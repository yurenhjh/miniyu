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72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9" r:id="rId20"/>
    <p:sldId id="281" r:id="rId21"/>
    <p:sldId id="274" r:id="rId22"/>
    <p:sldId id="275" r:id="rId23"/>
    <p:sldId id="276" r:id="rId24"/>
    <p:sldId id="277" r:id="rId25"/>
    <p:sldId id="278" r:id="rId26"/>
    <p:sldId id="273" r:id="rId27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tags" Target="../tags/tag3.xml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tags" Target="../tags/tag6.xml"/><Relationship Id="rId7" Type="http://schemas.openxmlformats.org/officeDocument/2006/relationships/tags" Target="../tags/tag7.xml"/><Relationship Id="rId8" Type="http://schemas.openxmlformats.org/officeDocument/2006/relationships/tags" Target="../tags/tag8.xml"/><Relationship Id="rId9" Type="http://schemas.openxmlformats.org/officeDocument/2006/relationships/tags" Target="../tags/tag9.xml"/><Relationship Id="rId10" Type="http://schemas.openxmlformats.org/officeDocument/2006/relationships/tags" Target="../tags/tag10.xml"/><Relationship Id="rId11" Type="http://schemas.openxmlformats.org/officeDocument/2006/relationships/tags" Target="../tags/tag11.xml"/><Relationship Id="rId12" Type="http://schemas.openxmlformats.org/officeDocument/2006/relationships/tags" Target="../tags/tag12.xml"/><Relationship Id="rId13" Type="http://schemas.openxmlformats.org/officeDocument/2006/relationships/tags" Target="../tags/tag13.xml"/><Relationship Id="rId14" Type="http://schemas.openxmlformats.org/officeDocument/2006/relationships/tags" Target="../tags/tag14.xml"/><Relationship Id="rId15" Type="http://schemas.openxmlformats.org/officeDocument/2006/relationships/tags" Target="../tags/tag15.xml"/><Relationship Id="rId16" Type="http://schemas.openxmlformats.org/officeDocument/2006/relationships/tags" Target="../tags/tag16.xml"/><Relationship Id="rId17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tags" Target="../tags/tag17.xml"/><Relationship Id="rId2" Type="http://schemas.openxmlformats.org/officeDocument/2006/relationships/tags" Target="../tags/tag18.xml"/><Relationship Id="rId3" Type="http://schemas.openxmlformats.org/officeDocument/2006/relationships/tags" Target="../tags/tag19.xml"/><Relationship Id="rId4" Type="http://schemas.openxmlformats.org/officeDocument/2006/relationships/tags" Target="../tags/tag20.xml"/><Relationship Id="rId5" Type="http://schemas.openxmlformats.org/officeDocument/2006/relationships/tags" Target="../tags/tag21.xml"/><Relationship Id="rId6" Type="http://schemas.openxmlformats.org/officeDocument/2006/relationships/tags" Target="../tags/tag22.xml"/><Relationship Id="rId7" Type="http://schemas.openxmlformats.org/officeDocument/2006/relationships/tags" Target="../tags/tag23.xml"/><Relationship Id="rId8" Type="http://schemas.openxmlformats.org/officeDocument/2006/relationships/tags" Target="../tags/tag24.xml"/><Relationship Id="rId9" Type="http://schemas.openxmlformats.org/officeDocument/2006/relationships/tags" Target="../tags/tag25.xml"/><Relationship Id="rId10" Type="http://schemas.openxmlformats.org/officeDocument/2006/relationships/tags" Target="../tags/tag26.xml"/><Relationship Id="rId11" Type="http://schemas.openxmlformats.org/officeDocument/2006/relationships/tags" Target="../tags/tag27.xml"/><Relationship Id="rId12" Type="http://schemas.openxmlformats.org/officeDocument/2006/relationships/tags" Target="../tags/tag28.xml"/><Relationship Id="rId13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405" y="9906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63440"/>
            <a:ext cx="12191695" cy="5486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2255" y="1594485"/>
            <a:ext cx="11929110" cy="645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4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3600"/>
              <a:t>Linux</a:t>
            </a:r>
            <a:r>
              <a:rPr lang="zh-CN" sz="3600"/>
              <a:t>（</a:t>
            </a:r>
            <a:r>
              <a:rPr lang="en-US" altLang="zh-CN" sz="3600"/>
              <a:t>Windows</a:t>
            </a:r>
            <a:r>
              <a:rPr lang="zh-CN" altLang="en-US" sz="3600"/>
              <a:t>兼容）</a:t>
            </a:r>
            <a:r>
              <a:rPr sz="3600"/>
              <a:t> 桌面 Agentic OS 设计与实现</a:t>
            </a:r>
            <a:endParaRPr sz="3600"/>
          </a:p>
        </p:txBody>
      </p:sp>
      <p:sp>
        <p:nvSpPr>
          <p:cNvPr id="5" name="TextBox 4"/>
          <p:cNvSpPr txBox="1"/>
          <p:nvPr/>
        </p:nvSpPr>
        <p:spPr>
          <a:xfrm>
            <a:off x="914400" y="2651760"/>
            <a:ext cx="10332720" cy="20916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第 4 组 · 工具注册 + OS Skills（工具服务层）</a:t>
            </a:r>
          </a:p>
          <a:p>
            <a:pPr algn="l">
              <a:spcAft>
                <a:spcPts val="400"/>
              </a:spcAft>
              <a:defRPr sz="3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rPr lang="zh-CN"/>
              <a:t>组长：</a:t>
            </a:r>
            <a:r>
              <a:rPr lang="zh-CN"/>
              <a:t>邓攀</a:t>
            </a:r>
            <a:endParaRPr lang="zh-CN"/>
          </a:p>
          <a:p>
            <a:pPr algn="l">
              <a:spcAft>
                <a:spcPts val="400"/>
              </a:spcAft>
              <a:defRPr sz="3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rPr lang="zh-CN"/>
              <a:t>组员：黄金航、高嘉怡、苏美</a:t>
            </a:r>
            <a:r>
              <a:rPr lang="zh-CN"/>
              <a:t>镱</a:t>
            </a:r>
            <a:endParaRPr lang="zh-CN"/>
          </a:p>
          <a:p>
            <a:pPr algn="l">
              <a:spcAft>
                <a:spcPts val="400"/>
              </a:spcAft>
              <a:defRPr sz="3000" b="1">
                <a:solidFill>
                  <a:srgbClr val="8B5CF6"/>
                </a:solidFill>
                <a:latin typeface="微软雅黑" panose="020B0503020204020204" charset="-122"/>
              </a:defRPr>
            </a:pPr>
            <a:endParaRPr lang="zh-CN"/>
          </a:p>
        </p:txBody>
      </p:sp>
      <p:sp>
        <p:nvSpPr>
          <p:cNvPr id="6" name="TextBox 5"/>
          <p:cNvSpPr txBox="1"/>
          <p:nvPr/>
        </p:nvSpPr>
        <p:spPr>
          <a:xfrm>
            <a:off x="914400" y="4225925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BBC5D5"/>
                </a:solidFill>
                <a:latin typeface="微软雅黑" panose="020B0503020204020204" charset="-122"/>
              </a:defRPr>
            </a:pPr>
            <a:r>
              <a:t>ToolRegistry + SkillLibrary ｜ 59 工具 + 26 技能 + 558 测试全绿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10332720" cy="63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9AA6B5"/>
                </a:solidFill>
                <a:latin typeface="微软雅黑" panose="020B0503020204020204" charset="-122"/>
              </a:defRPr>
            </a:pPr>
            <a:r>
              <a:t>操作系统设计 · 汇报演示</a:t>
            </a:r>
          </a:p>
          <a:p>
            <a:pPr algn="l">
              <a:spcAft>
                <a:spcPts val="400"/>
              </a:spcAft>
              <a:defRPr sz="1600" b="0">
                <a:solidFill>
                  <a:srgbClr val="9AA6B5"/>
                </a:solidFill>
                <a:latin typeface="微软雅黑" panose="020B0503020204020204" charset="-122"/>
              </a:defRPr>
            </a:pPr>
            <a:r>
              <a:t>2026-09-</a:t>
            </a:r>
            <a:r>
              <a:rPr lang="en-US"/>
              <a:t>10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第 4 组分工与贡献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3517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8B5CF6"/>
                </a:solidFill>
                <a:latin typeface="微软雅黑" panose="020B0503020204020204" charset="-122"/>
                <a:sym typeface="+mn-ea"/>
              </a:rPr>
              <a:t>▍</a:t>
            </a:r>
            <a:r>
              <a:rPr lang="zh-CN" sz="2800" b="1">
                <a:solidFill>
                  <a:srgbClr val="8B5CF6"/>
                </a:solidFill>
                <a:latin typeface="微软雅黑" panose="020B0503020204020204" charset="-122"/>
                <a:sym typeface="+mn-ea"/>
              </a:rPr>
              <a:t>组长</a:t>
            </a:r>
            <a:r>
              <a:rPr sz="2800">
                <a:solidFill>
                  <a:srgbClr val="1E293B"/>
                </a:solidFill>
                <a:latin typeface="微软雅黑" panose="020B0503020204020204" charset="-122"/>
                <a:sym typeface="+mn-ea"/>
              </a:rPr>
              <a:t>  </a:t>
            </a:r>
            <a:r>
              <a:rPr lang="zh-CN" sz="2800" b="1">
                <a:solidFill>
                  <a:srgbClr val="1E293B"/>
                </a:solidFill>
                <a:latin typeface="微软雅黑" panose="020B0503020204020204" charset="-122"/>
                <a:sym typeface="+mn-ea"/>
              </a:rPr>
              <a:t>邓攀</a:t>
            </a:r>
            <a:r>
              <a:rPr lang="en-US" altLang="zh-CN" sz="2800">
                <a:solidFill>
                  <a:srgbClr val="1E293B"/>
                </a:solidFill>
                <a:latin typeface="微软雅黑" panose="020B0503020204020204" charset="-122"/>
                <a:sym typeface="+mn-ea"/>
              </a:rPr>
              <a:t>     </a:t>
            </a:r>
            <a:r>
              <a:rPr sz="2800">
                <a:solidFill>
                  <a:srgbClr val="1E293B"/>
                </a:solidFill>
                <a:latin typeface="微软雅黑" panose="020B0503020204020204" charset="-122"/>
                <a:sym typeface="+mn-ea"/>
              </a:rPr>
              <a:t>调研报告</a:t>
            </a:r>
            <a:r>
              <a:rPr sz="2800">
                <a:solidFill>
                  <a:srgbClr val="1E293B"/>
                </a:solidFill>
                <a:latin typeface="微软雅黑" panose="020B0503020204020204" charset="-122"/>
                <a:sym typeface="+mn-ea"/>
              </a:rPr>
              <a:t>、</a:t>
            </a:r>
            <a:r>
              <a:rPr sz="2800">
                <a:solidFill>
                  <a:srgbClr val="1E293B"/>
                </a:solidFill>
                <a:latin typeface="微软雅黑" panose="020B0503020204020204" charset="-122"/>
                <a:sym typeface="+mn-ea"/>
              </a:rPr>
              <a:t>汇报 PPT</a:t>
            </a:r>
            <a:endParaRPr sz="2800" b="1">
              <a:solidFill>
                <a:srgbClr val="8B5CF6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8B5CF6"/>
                </a:solidFill>
                <a:latin typeface="微软雅黑" panose="020B0503020204020204" charset="-122"/>
              </a:rPr>
              <a:t>▍组员 1</a:t>
            </a:r>
            <a:r>
              <a:rPr sz="2800">
                <a:solidFill>
                  <a:srgbClr val="1E293B"/>
                </a:solidFill>
                <a:latin typeface="微软雅黑" panose="020B0503020204020204" charset="-122"/>
              </a:rPr>
              <a:t>  </a:t>
            </a:r>
            <a:r>
              <a:rPr lang="zh-CN" sz="2800" b="1">
                <a:solidFill>
                  <a:srgbClr val="1E293B"/>
                </a:solidFill>
                <a:latin typeface="微软雅黑" panose="020B0503020204020204" charset="-122"/>
              </a:rPr>
              <a:t>黄金航</a:t>
            </a:r>
            <a:r>
              <a:rPr lang="en-US" altLang="zh-CN" sz="2800">
                <a:solidFill>
                  <a:srgbClr val="1E293B"/>
                </a:solidFill>
                <a:latin typeface="微软雅黑" panose="020B0503020204020204" charset="-122"/>
              </a:rPr>
              <a:t> </a:t>
            </a:r>
            <a:r>
              <a:rPr sz="2800">
                <a:solidFill>
                  <a:srgbClr val="1E293B"/>
                </a:solidFill>
                <a:latin typeface="微软雅黑" panose="020B0503020204020204" charset="-122"/>
              </a:rPr>
              <a:t>ToolRegistry 核心实现、调用统计、工具签名</a:t>
            </a:r>
            <a:r>
              <a:rPr lang="zh-CN" sz="2800">
                <a:solidFill>
                  <a:srgbClr val="1E293B"/>
                </a:solidFill>
                <a:latin typeface="微软雅黑" panose="020B0503020204020204" charset="-122"/>
              </a:rPr>
              <a:t>、</a:t>
            </a:r>
            <a:r>
              <a:rPr sz="2800">
                <a:solidFill>
                  <a:srgbClr val="1E293B"/>
                </a:solidFill>
                <a:latin typeface="微软雅黑" panose="020B0503020204020204" charset="-122"/>
                <a:sym typeface="+mn-ea"/>
              </a:rPr>
              <a:t>Mock 三件套、单元测试</a:t>
            </a:r>
            <a:r>
              <a:rPr lang="zh-CN" sz="2800">
                <a:solidFill>
                  <a:srgbClr val="1E293B"/>
                </a:solidFill>
                <a:latin typeface="微软雅黑" panose="020B0503020204020204" charset="-122"/>
                <a:sym typeface="+mn-ea"/>
              </a:rPr>
              <a:t>、</a:t>
            </a:r>
            <a:r>
              <a:rPr sz="2800">
                <a:solidFill>
                  <a:srgbClr val="1E293B"/>
                </a:solidFill>
                <a:latin typeface="微软雅黑" panose="020B0503020204020204" charset="-122"/>
                <a:sym typeface="+mn-ea"/>
              </a:rPr>
              <a:t>跨组联调</a:t>
            </a:r>
            <a:r>
              <a:rPr lang="zh-CN" sz="2800">
                <a:solidFill>
                  <a:srgbClr val="1E293B"/>
                </a:solidFill>
                <a:latin typeface="微软雅黑" panose="020B0503020204020204" charset="-122"/>
                <a:sym typeface="+mn-ea"/>
              </a:rPr>
              <a:t>、</a:t>
            </a:r>
            <a:r>
              <a:rPr lang="en-US" altLang="zh-CN" sz="2800">
                <a:solidFill>
                  <a:srgbClr val="1E293B"/>
                </a:solidFill>
                <a:latin typeface="微软雅黑" panose="020B0503020204020204" charset="-122"/>
                <a:sym typeface="+mn-ea"/>
              </a:rPr>
              <a:t>AI</a:t>
            </a:r>
            <a:r>
              <a:rPr lang="zh-CN" altLang="en-US" sz="2800">
                <a:solidFill>
                  <a:srgbClr val="1E293B"/>
                </a:solidFill>
                <a:latin typeface="微软雅黑" panose="020B0503020204020204" charset="-122"/>
                <a:sym typeface="+mn-ea"/>
              </a:rPr>
              <a:t>助手整体实现</a:t>
            </a:r>
            <a:endParaRPr sz="2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8B5CF6"/>
                </a:solidFill>
                <a:latin typeface="微软雅黑" panose="020B0503020204020204" charset="-122"/>
              </a:rPr>
              <a:t>▍组员 2</a:t>
            </a:r>
            <a:r>
              <a:rPr sz="2800">
                <a:solidFill>
                  <a:srgbClr val="1E293B"/>
                </a:solidFill>
                <a:latin typeface="微软雅黑" panose="020B0503020204020204" charset="-122"/>
              </a:rPr>
              <a:t>  </a:t>
            </a:r>
            <a:r>
              <a:rPr lang="zh-CN" sz="2800" b="1">
                <a:solidFill>
                  <a:srgbClr val="1E293B"/>
                </a:solidFill>
                <a:latin typeface="微软雅黑" panose="020B0503020204020204" charset="-122"/>
              </a:rPr>
              <a:t>苏美镱</a:t>
            </a:r>
            <a:r>
              <a:rPr lang="en-US" altLang="zh-CN" sz="2800">
                <a:solidFill>
                  <a:srgbClr val="1E293B"/>
                </a:solidFill>
                <a:latin typeface="微软雅黑" panose="020B0503020204020204" charset="-122"/>
              </a:rPr>
              <a:t> </a:t>
            </a:r>
            <a:r>
              <a:rPr sz="2800">
                <a:solidFill>
                  <a:srgbClr val="1E293B"/>
                </a:solidFill>
                <a:latin typeface="微软雅黑" panose="020B0503020204020204" charset="-122"/>
              </a:rPr>
              <a:t>SkillLibrary 技能编排、文件整理/回收站/备份</a:t>
            </a:r>
            <a:r>
              <a:rPr lang="zh-CN" sz="2800">
                <a:solidFill>
                  <a:srgbClr val="1E293B"/>
                </a:solidFill>
                <a:latin typeface="微软雅黑" panose="020B0503020204020204" charset="-122"/>
                <a:sym typeface="+mn-ea"/>
              </a:rPr>
              <a:t>、</a:t>
            </a:r>
            <a:r>
              <a:rPr sz="2800">
                <a:solidFill>
                  <a:srgbClr val="1E293B"/>
                </a:solidFill>
                <a:latin typeface="微软雅黑" panose="020B0503020204020204" charset="-122"/>
                <a:sym typeface="+mn-ea"/>
              </a:rPr>
              <a:t>跨组联调</a:t>
            </a:r>
            <a:endParaRPr sz="2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8B5CF6"/>
                </a:solidFill>
                <a:latin typeface="微软雅黑" panose="020B0503020204020204" charset="-122"/>
              </a:rPr>
              <a:t>▍组员 </a:t>
            </a:r>
            <a:r>
              <a:rPr lang="en-US" sz="2800" b="1">
                <a:solidFill>
                  <a:srgbClr val="8B5CF6"/>
                </a:solidFill>
                <a:latin typeface="微软雅黑" panose="020B0503020204020204" charset="-122"/>
              </a:rPr>
              <a:t>3</a:t>
            </a:r>
            <a:r>
              <a:rPr sz="2800">
                <a:solidFill>
                  <a:srgbClr val="1E293B"/>
                </a:solidFill>
                <a:latin typeface="微软雅黑" panose="020B0503020204020204" charset="-122"/>
              </a:rPr>
              <a:t>  </a:t>
            </a:r>
            <a:r>
              <a:rPr lang="zh-CN" sz="2800" b="1">
                <a:solidFill>
                  <a:srgbClr val="1E293B"/>
                </a:solidFill>
                <a:latin typeface="微软雅黑" panose="020B0503020204020204" charset="-122"/>
              </a:rPr>
              <a:t>高嘉怡</a:t>
            </a:r>
            <a:r>
              <a:rPr lang="en-US" altLang="zh-CN" sz="2800">
                <a:solidFill>
                  <a:srgbClr val="1E293B"/>
                </a:solidFill>
                <a:latin typeface="微软雅黑" panose="020B0503020204020204" charset="-122"/>
              </a:rPr>
              <a:t> </a:t>
            </a:r>
            <a:r>
              <a:rPr sz="2800">
                <a:solidFill>
                  <a:srgbClr val="1E293B"/>
                </a:solidFill>
                <a:latin typeface="微软雅黑" panose="020B0503020204020204" charset="-122"/>
                <a:sym typeface="+mn-ea"/>
              </a:rPr>
              <a:t>接口文档</a:t>
            </a:r>
            <a:r>
              <a:rPr lang="zh-CN" sz="2800">
                <a:solidFill>
                  <a:srgbClr val="1E293B"/>
                </a:solidFill>
                <a:latin typeface="微软雅黑" panose="020B0503020204020204" charset="-122"/>
                <a:sym typeface="+mn-ea"/>
              </a:rPr>
              <a:t>、</a:t>
            </a:r>
            <a:r>
              <a:rPr sz="2800">
                <a:solidFill>
                  <a:srgbClr val="1E293B"/>
                </a:solidFill>
                <a:latin typeface="微软雅黑" panose="020B0503020204020204" charset="-122"/>
              </a:rPr>
              <a:t>设计文档</a:t>
            </a:r>
            <a:endParaRPr sz="2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8B5CF6"/>
                </a:solidFill>
                <a:latin typeface="微软雅黑" panose="020B0503020204020204" charset="-122"/>
              </a:rPr>
              <a:t>▍组内协作</a:t>
            </a:r>
            <a:r>
              <a:rPr sz="2800">
                <a:solidFill>
                  <a:srgbClr val="1E293B"/>
                </a:solidFill>
                <a:latin typeface="微软雅黑" panose="020B0503020204020204" charset="-122"/>
              </a:rPr>
              <a:t>  代码评审、ADR 决策记录、真机联调（LLM/邮件/QQ）</a:t>
            </a:r>
            <a:endParaRPr sz="280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234440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23444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项目背景与目标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70992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1709928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UFO² 架构与第 4 组定位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85416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2185416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调研：MCP 协议与竞品对标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660904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660904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系统架构与接口契约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136392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3136392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模块设计：ToolRegistry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611880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361188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模块设计：SkillLibrary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08736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4087368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安全、审计与 RAG 协同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562856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4562856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Mock 与跨组联调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038344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09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0240" y="5038344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单元测试与质量保障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513832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5513832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端到端演示：整理下载目录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5989320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20240" y="5989320"/>
            <a:ext cx="8229600" cy="3683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rPr lang="zh-CN"/>
              <a:t>完整</a:t>
            </a:r>
            <a:r>
              <a:rPr lang="en-US" altLang="zh-CN"/>
              <a:t>AI</a:t>
            </a:r>
            <a:r>
              <a:rPr lang="zh-CN" altLang="en-US"/>
              <a:t>助手设计：</a:t>
            </a:r>
            <a:r>
              <a:rPr lang="en-US" altLang="zh-CN"/>
              <a:t>Miniyu</a:t>
            </a:r>
            <a:endParaRPr lang="en-US" altLang="zh-CN"/>
          </a:p>
        </p:txBody>
      </p:sp>
      <p:sp>
        <p:nvSpPr>
          <p:cNvPr id="28" name="文本框 27"/>
          <p:cNvSpPr txBox="1"/>
          <p:nvPr/>
        </p:nvSpPr>
        <p:spPr>
          <a:xfrm>
            <a:off x="1097280" y="6313170"/>
            <a:ext cx="6096000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l">
              <a:spcAft>
                <a:spcPts val="400"/>
              </a:spcAft>
              <a:defRPr sz="2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rPr>
                <a:sym typeface="+mn-ea"/>
              </a:rPr>
              <a:t>1</a:t>
            </a:r>
            <a:r>
              <a:rPr lang="en-US">
                <a:sym typeface="+mn-ea"/>
              </a:rPr>
              <a:t>2</a:t>
            </a:r>
            <a:endParaRPr lang="en-US">
              <a:sym typeface="+mn-ea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1920240" y="6343650"/>
            <a:ext cx="6096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>
                <a:sym typeface="+mn-ea"/>
              </a:rPr>
              <a:t>总结与展望</a:t>
            </a:r>
            <a:endParaRPr lang="zh-CN" altLang="en-US">
              <a:sym typeface="+mn-e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55308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rPr lang="en-US"/>
              <a:t>01</a:t>
            </a:r>
            <a:r>
              <a:t>项目背景与目标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以微软 UFO² 为蓝本，在 Linux 桌面构建自然语言交互的 Agentic OS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▍背景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操作系统课程实践：理解虚拟化、并发、持久性三大原理，并在智能体系统中落地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▍目标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支持自然语言指令 → 意图理解 → 安全检查 → 任务规划 → 执行 → 工具调用 → 审计 的完整闭环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▍5 组分工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AI Shell/HostAgent(1) → 规划/控件检测(2) → AppAgent/Automator(3) → 工具/OS Skills(4) → 协调/安全/RAG(5)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▍第 4 组职责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把文件系统/系统管理能力封装为统一可调用、可统计、可签名的工具与技能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▍OS 原理关联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持久性：文件系统操作；虚拟化：资源抽象；并发：多线程安全调用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55308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rPr lang="en-US"/>
              <a:t>02 </a:t>
            </a:r>
            <a:r>
              <a:t>UFO² 架构与第 4 组定位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第 4 组对应 UFO² 的 Tools 组件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371600"/>
            <a:ext cx="10332720" cy="77724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150876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决策层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50876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HostAgent / TaskPlanner / AppAgent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2331720"/>
            <a:ext cx="10332720" cy="77724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46888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★ 工具层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46888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ToolRegistry + SkillLibrary（第 4 组）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3291840"/>
            <a:ext cx="10332720" cy="77724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2900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能力层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34290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文件系统 / 进程 / 网络 / 应用 / 剪贴板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66344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7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工具层是「决策」与「能力」之间的适配面：把 OS 原始能力封装成智能体可理解、</a:t>
            </a:r>
          </a:p>
          <a:p>
            <a:pPr algn="l">
              <a:spcAft>
                <a:spcPts val="400"/>
              </a:spcAft>
              <a:defRPr sz="17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可验证、可安全调用的函数签名 —— 如同系统调用把硬件能力暴露为受控 API。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55308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rPr lang="en-US"/>
              <a:t>03 </a:t>
            </a:r>
            <a:r>
              <a:t>调研：MCP 协议与竞品对标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第 4 组接口设计的参考蓝本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▍MCP 协议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Server 声明工具(name/description/inputSchema) → 客户端发现 → 结构化调用 → 结果回传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▍Schema 驱动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工具参数自动从函数签名+docstring 生成 JSON Schema，避免与代码漂移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▍结果归一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统一 {success, result, error}，等价 MCP CallToolResult，上层无感知差异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▍竞品对标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UFO：API 优先于坐标点击；ANOLISA：工具统一注册与系统级抽象；Open Interpreter：不可控的教训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▍OS 关联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系统调用暴露硬件能力；工具层暴露 OS 能力 —— 同构思想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55308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rPr lang="en-US"/>
              <a:t>04 </a:t>
            </a:r>
            <a:r>
              <a:t>系统架构与接口契约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tool_result_json 贯穿 5 组数据流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2011680" cy="11887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第1组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11680"/>
            <a:ext cx="2011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AI Shell</a:t>
            </a:r>
          </a:p>
          <a:p>
            <a:pPr algn="ctr">
              <a:spcAft>
                <a:spcPts val="400"/>
              </a:spcAft>
              <a:defRPr sz="1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HostAgent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187452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2000" b="0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80360" y="1463040"/>
            <a:ext cx="2011680" cy="11887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80360" y="1600200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第2组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2011680"/>
            <a:ext cx="2011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规划</a:t>
            </a:r>
          </a:p>
          <a:p>
            <a:pPr algn="ctr">
              <a:spcAft>
                <a:spcPts val="400"/>
              </a:spcAft>
              <a:defRPr sz="1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控件检测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187452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2000" b="0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12080" y="1463040"/>
            <a:ext cx="2011680" cy="11887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80" y="1600200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第3组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011680"/>
            <a:ext cx="2011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AppAgent</a:t>
            </a:r>
          </a:p>
          <a:p>
            <a:pPr algn="ctr">
              <a:spcAft>
                <a:spcPts val="400"/>
              </a:spcAft>
              <a:defRPr sz="1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Automator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187452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2000" b="0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43800" y="1463040"/>
            <a:ext cx="2011680" cy="11887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43800" y="1600200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第4组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43800" y="2011680"/>
            <a:ext cx="2011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ToolRegistry</a:t>
            </a:r>
          </a:p>
          <a:p>
            <a:pPr algn="ctr">
              <a:spcAft>
                <a:spcPts val="400"/>
              </a:spcAft>
              <a:defRPr sz="1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SkillLibrary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55480" y="187452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2000" b="0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875520" y="1463040"/>
            <a:ext cx="2011680" cy="11887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0" y="1600200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第5组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0" y="2011680"/>
            <a:ext cx="2011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协调/安全</a:t>
            </a:r>
          </a:p>
          <a:p>
            <a:pPr algn="ctr">
              <a:spcAft>
                <a:spcPts val="400"/>
              </a:spcAft>
              <a:defRPr sz="1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RAG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108960"/>
            <a:ext cx="11064240" cy="457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3383280"/>
            <a:ext cx="5394960" cy="26517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3383280"/>
            <a:ext cx="73152" cy="265176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493008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7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输出接口 tool_result_json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3931920"/>
            <a:ext cx="5120640" cy="20504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{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  "success": true,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  "result": "...",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  "error": "..."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}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工程扩展：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  tool / elapsed_ms / ts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（供审计与 RAG）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7920" y="3383280"/>
            <a:ext cx="5394960" cy="26517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17920" y="3383280"/>
            <a:ext cx="73152" cy="265176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3493008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7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输入接口（上层→第4组）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3931920"/>
            <a:ext cx="51206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list_available_tools()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list_skills()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call(name, params)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call_skill(name, params)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get_stats()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get_tool_signature(name)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register(name, func)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55308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rPr lang="en-US"/>
              <a:t>05 </a:t>
            </a:r>
            <a:r>
              <a:t>模块设计：ToolRegistry（59 个系统工具）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统一注册 · 统一调用 · Schema 生成 · 调用统计 · 工具签名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▍统一注册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register(name, func) 注册工具与别名（move_file≡move_path），注册时自动生成 SHA256 签名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▍统一调用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call(name, params) 单一入口，try/except 归一为 {success:false,error}，异常不逃逸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▍Schema 自动生成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由函数签名+typing+docstring 推断描述与参数（对齐 MCP inputSchema）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▍功能域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文件/文件夹/文本/批量/磁盘/搜索/图片/系统/浏览器/邮件/屏幕/网络 12 大类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▍代表性工具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copy_file、organize_downloads(技能)、edit_file、search_in_files、run_command、send_email、screen_inspect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55308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rPr lang="en-US"/>
              <a:t>06 </a:t>
            </a:r>
            <a:r>
              <a:t>模块设计：SkillLibrary（26 个 OS 技能）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原子工具编排成一步到位的组合技能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>
            <p:custDataLst>
              <p:tags r:id="rId1"/>
            </p:custDataLst>
          </p:nvPr>
        </p:nvSpPr>
        <p:spPr>
          <a:xfrm>
            <a:off x="640080" y="1371600"/>
            <a:ext cx="2606040" cy="21031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>
            <p:custDataLst>
              <p:tags r:id="rId2"/>
            </p:custDataLst>
          </p:nvPr>
        </p:nvSpPr>
        <p:spPr>
          <a:xfrm>
            <a:off x="640080" y="1371600"/>
            <a:ext cx="73152" cy="21031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>
            <p:custDataLst>
              <p:tags r:id="rId3"/>
            </p:custDataLst>
          </p:nvPr>
        </p:nvSpPr>
        <p:spPr>
          <a:xfrm>
            <a:off x="822960" y="1481328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7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文件整理</a:t>
            </a:r>
          </a:p>
        </p:txBody>
      </p:sp>
      <p:sp>
        <p:nvSpPr>
          <p:cNvPr id="9" name="TextBox 8"/>
          <p:cNvSpPr txBox="1"/>
          <p:nvPr>
            <p:custDataLst>
              <p:tags r:id="rId4"/>
            </p:custDataLst>
          </p:nvPr>
        </p:nvSpPr>
        <p:spPr>
          <a:xfrm>
            <a:off x="822960" y="1920240"/>
            <a:ext cx="2331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organize_downloads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smart_organize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cleanup_temp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deduplicate_files</a:t>
            </a:r>
          </a:p>
        </p:txBody>
      </p:sp>
      <p:sp>
        <p:nvSpPr>
          <p:cNvPr id="10" name="Rectangle 9"/>
          <p:cNvSpPr/>
          <p:nvPr>
            <p:custDataLst>
              <p:tags r:id="rId5"/>
            </p:custDataLst>
          </p:nvPr>
        </p:nvSpPr>
        <p:spPr>
          <a:xfrm>
            <a:off x="3429000" y="1371600"/>
            <a:ext cx="2606040" cy="21031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>
            <p:custDataLst>
              <p:tags r:id="rId6"/>
            </p:custDataLst>
          </p:nvPr>
        </p:nvSpPr>
        <p:spPr>
          <a:xfrm>
            <a:off x="3429000" y="1371600"/>
            <a:ext cx="73152" cy="21031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>
            <p:custDataLst>
              <p:tags r:id="rId7"/>
            </p:custDataLst>
          </p:nvPr>
        </p:nvSpPr>
        <p:spPr>
          <a:xfrm>
            <a:off x="3611880" y="1481328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7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查找索引</a:t>
            </a:r>
          </a:p>
        </p:txBody>
      </p:sp>
      <p:sp>
        <p:nvSpPr>
          <p:cNvPr id="13" name="TextBox 12"/>
          <p:cNvSpPr txBox="1"/>
          <p:nvPr>
            <p:custDataLst>
              <p:tags r:id="rId8"/>
            </p:custDataLst>
          </p:nvPr>
        </p:nvSpPr>
        <p:spPr>
          <a:xfrm>
            <a:off x="3611880" y="1920240"/>
            <a:ext cx="2331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search_file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find_large_files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rebuild_index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query_index</a:t>
            </a:r>
          </a:p>
        </p:txBody>
      </p:sp>
      <p:sp>
        <p:nvSpPr>
          <p:cNvPr id="14" name="Rectangle 13"/>
          <p:cNvSpPr/>
          <p:nvPr>
            <p:custDataLst>
              <p:tags r:id="rId9"/>
            </p:custDataLst>
          </p:nvPr>
        </p:nvSpPr>
        <p:spPr>
          <a:xfrm>
            <a:off x="6217920" y="1371600"/>
            <a:ext cx="2606040" cy="21031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>
            <p:custDataLst>
              <p:tags r:id="rId10"/>
            </p:custDataLst>
          </p:nvPr>
        </p:nvSpPr>
        <p:spPr>
          <a:xfrm>
            <a:off x="6217920" y="1371600"/>
            <a:ext cx="73152" cy="21031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>
            <p:custDataLst>
              <p:tags r:id="rId11"/>
            </p:custDataLst>
          </p:nvPr>
        </p:nvSpPr>
        <p:spPr>
          <a:xfrm>
            <a:off x="6400800" y="1481328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7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回收备份</a:t>
            </a:r>
          </a:p>
        </p:txBody>
      </p:sp>
      <p:sp>
        <p:nvSpPr>
          <p:cNvPr id="17" name="TextBox 16"/>
          <p:cNvSpPr txBox="1"/>
          <p:nvPr>
            <p:custDataLst>
              <p:tags r:id="rId12"/>
            </p:custDataLst>
          </p:nvPr>
        </p:nvSpPr>
        <p:spPr>
          <a:xfrm>
            <a:off x="6400800" y="1920240"/>
            <a:ext cx="2331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trash_file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restore_file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backup_file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restore_backup</a:t>
            </a:r>
          </a:p>
        </p:txBody>
      </p:sp>
      <p:sp>
        <p:nvSpPr>
          <p:cNvPr id="18" name="Rectangle 17"/>
          <p:cNvSpPr/>
          <p:nvPr>
            <p:custDataLst>
              <p:tags r:id="rId13"/>
            </p:custDataLst>
          </p:nvPr>
        </p:nvSpPr>
        <p:spPr>
          <a:xfrm>
            <a:off x="9006840" y="1371600"/>
            <a:ext cx="2606040" cy="21031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>
            <p:custDataLst>
              <p:tags r:id="rId14"/>
            </p:custDataLst>
          </p:nvPr>
        </p:nvSpPr>
        <p:spPr>
          <a:xfrm>
            <a:off x="9006840" y="1371600"/>
            <a:ext cx="73152" cy="21031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>
            <p:custDataLst>
              <p:tags r:id="rId15"/>
            </p:custDataLst>
          </p:nvPr>
        </p:nvSpPr>
        <p:spPr>
          <a:xfrm>
            <a:off x="9189720" y="1481328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7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通信联网</a:t>
            </a:r>
          </a:p>
        </p:txBody>
      </p:sp>
      <p:sp>
        <p:nvSpPr>
          <p:cNvPr id="21" name="TextBox 20"/>
          <p:cNvSpPr txBox="1"/>
          <p:nvPr>
            <p:custDataLst>
              <p:tags r:id="rId16"/>
            </p:custDataLst>
          </p:nvPr>
        </p:nvSpPr>
        <p:spPr>
          <a:xfrm>
            <a:off x="9189720" y="1920240"/>
            <a:ext cx="2331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app_send_message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read_qq_chat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send_email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browser_search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84048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核心演示：organize_downloads —— 扫描 → 按扩展名分类(文档/图片/视频/音频/压缩包) → 建子目录 → 移动</a:t>
            </a:r>
          </a:p>
          <a:p>
            <a:pPr algn="l">
              <a:spcAft>
                <a:spcPts val="400"/>
              </a:spcAft>
              <a:defRPr sz="18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→ 返回「整理完成: 共 N 个文件，分类 M 类」。演示场景 6「整理下载目录」由本技能直接支撑。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55308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rPr lang="en-US"/>
              <a:t>07 </a:t>
            </a:r>
            <a:r>
              <a:t>安全、审计与 RAG 协同（</a:t>
            </a:r>
            <a:r>
              <a:rPr lang="zh-CN"/>
              <a:t>完成</a:t>
            </a:r>
            <a:r>
              <a:t>第 5 组</a:t>
            </a:r>
            <a:r>
              <a:rPr lang="zh-CN"/>
              <a:t>任务</a:t>
            </a:r>
            <a:r>
              <a:t>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四层安全架构 + 审计日志 + 执行轨迹检索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▍四层安全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权限检查(危险指令/受保护路径) → 沙箱执行(确认门) → 签名验证(SHA256) → 隐私保护(脱敏)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▍审计日志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每次用户输入/工具调用/确认事件追加记录（JSON Lines，可落盘、线程安全）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▍RAG 知识库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存储「用户输入→动作→结果」三元组，轻量词频向量+余弦相似度检索，零外部依赖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▍数据源闭环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第 4 组 call() 的 elapsed_ms/ts 字段、get_stats()、get_tool_signature 供第 5 组消费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▍降级 Mock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MockCoordinator 基于 57 个同构工具 Mock 跑端到端编排，5 组联调互不阻塞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55308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rPr lang="en-US"/>
              <a:t>08 </a:t>
            </a:r>
            <a:r>
              <a:t>Mock 与跨组联调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同构 Mock 让其它组无真实系统也能开发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▍MockToolRegistry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59 个工具与正式版同名/同参/同返回，内存实现不改磁盘，安全可复现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▍MockSkillLibrary / MockOSServiceAPI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26 技能与统一 API 入口的 Mock，三件套全覆盖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▍联调价值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第 1/2/3 组可离线开发与联调，不被第 4 组真实实现阻塞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▍真实 LLM 联调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阿里云百炼 qwen3.5-plus function-calling 真机驱动多步工具调用（证据 docs/evidence/agent_qwen_live.md）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▍邮件/QQ 真机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send_email SMTP+IMAP 闭环到达核验；QQ 会话经屏幕 OCR 核对标题后读写（证据见 evidence/）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55308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rPr lang="en-US"/>
              <a:t>09 </a:t>
            </a:r>
            <a:r>
              <a:t>单元测试与质量保障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558 项测试全绿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463040"/>
            <a:ext cx="3108960" cy="201168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6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558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2608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6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测试用例</a:t>
            </a:r>
          </a:p>
        </p:txBody>
      </p:sp>
      <p:sp>
        <p:nvSpPr>
          <p:cNvPr id="9" name="Rectangle 8"/>
          <p:cNvSpPr/>
          <p:nvPr>
            <p:custDataLst>
              <p:tags r:id="rId1"/>
            </p:custDataLst>
          </p:nvPr>
        </p:nvSpPr>
        <p:spPr>
          <a:xfrm>
            <a:off x="4206240" y="1463040"/>
            <a:ext cx="1828800" cy="201168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>
            <p:custDataLst>
              <p:tags r:id="rId2"/>
            </p:custDataLst>
          </p:nvPr>
        </p:nvSpPr>
        <p:spPr>
          <a:xfrm>
            <a:off x="4206240" y="1828800"/>
            <a:ext cx="1828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44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23</a:t>
            </a:r>
          </a:p>
        </p:txBody>
      </p:sp>
      <p:sp>
        <p:nvSpPr>
          <p:cNvPr id="11" name="TextBox 10"/>
          <p:cNvSpPr txBox="1"/>
          <p:nvPr>
            <p:custDataLst>
              <p:tags r:id="rId3"/>
            </p:custDataLst>
          </p:nvPr>
        </p:nvSpPr>
        <p:spPr>
          <a:xfrm>
            <a:off x="4206240" y="2834640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测试文件</a:t>
            </a:r>
          </a:p>
        </p:txBody>
      </p:sp>
      <p:sp>
        <p:nvSpPr>
          <p:cNvPr id="12" name="Rectangle 11"/>
          <p:cNvSpPr/>
          <p:nvPr>
            <p:custDataLst>
              <p:tags r:id="rId4"/>
            </p:custDataLst>
          </p:nvPr>
        </p:nvSpPr>
        <p:spPr>
          <a:xfrm>
            <a:off x="6217920" y="1463040"/>
            <a:ext cx="1828800" cy="201168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>
            <p:custDataLst>
              <p:tags r:id="rId5"/>
            </p:custDataLst>
          </p:nvPr>
        </p:nvSpPr>
        <p:spPr>
          <a:xfrm>
            <a:off x="6217920" y="1828800"/>
            <a:ext cx="1828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44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59</a:t>
            </a:r>
          </a:p>
        </p:txBody>
      </p:sp>
      <p:sp>
        <p:nvSpPr>
          <p:cNvPr id="14" name="TextBox 13"/>
          <p:cNvSpPr txBox="1"/>
          <p:nvPr>
            <p:custDataLst>
              <p:tags r:id="rId6"/>
            </p:custDataLst>
          </p:nvPr>
        </p:nvSpPr>
        <p:spPr>
          <a:xfrm>
            <a:off x="6217920" y="2834640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系统工具</a:t>
            </a:r>
          </a:p>
        </p:txBody>
      </p:sp>
      <p:sp>
        <p:nvSpPr>
          <p:cNvPr id="15" name="Rectangle 14"/>
          <p:cNvSpPr/>
          <p:nvPr>
            <p:custDataLst>
              <p:tags r:id="rId7"/>
            </p:custDataLst>
          </p:nvPr>
        </p:nvSpPr>
        <p:spPr>
          <a:xfrm>
            <a:off x="8229600" y="1463040"/>
            <a:ext cx="1828800" cy="201168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>
            <p:custDataLst>
              <p:tags r:id="rId8"/>
            </p:custDataLst>
          </p:nvPr>
        </p:nvSpPr>
        <p:spPr>
          <a:xfrm>
            <a:off x="8229600" y="1828800"/>
            <a:ext cx="1828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44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26</a:t>
            </a:r>
          </a:p>
        </p:txBody>
      </p:sp>
      <p:sp>
        <p:nvSpPr>
          <p:cNvPr id="17" name="TextBox 16"/>
          <p:cNvSpPr txBox="1"/>
          <p:nvPr>
            <p:custDataLst>
              <p:tags r:id="rId9"/>
            </p:custDataLst>
          </p:nvPr>
        </p:nvSpPr>
        <p:spPr>
          <a:xfrm>
            <a:off x="8229600" y="2834640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OS 技能</a:t>
            </a:r>
          </a:p>
        </p:txBody>
      </p:sp>
      <p:sp>
        <p:nvSpPr>
          <p:cNvPr id="18" name="Rectangle 17"/>
          <p:cNvSpPr/>
          <p:nvPr>
            <p:custDataLst>
              <p:tags r:id="rId10"/>
            </p:custDataLst>
          </p:nvPr>
        </p:nvSpPr>
        <p:spPr>
          <a:xfrm>
            <a:off x="10241280" y="1463040"/>
            <a:ext cx="1828800" cy="201168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>
            <p:custDataLst>
              <p:tags r:id="rId11"/>
            </p:custDataLst>
          </p:nvPr>
        </p:nvSpPr>
        <p:spPr>
          <a:xfrm>
            <a:off x="10241280" y="1828800"/>
            <a:ext cx="1828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44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59</a:t>
            </a:r>
          </a:p>
        </p:txBody>
      </p:sp>
      <p:sp>
        <p:nvSpPr>
          <p:cNvPr id="20" name="TextBox 19"/>
          <p:cNvSpPr txBox="1"/>
          <p:nvPr>
            <p:custDataLst>
              <p:tags r:id="rId12"/>
            </p:custDataLst>
          </p:nvPr>
        </p:nvSpPr>
        <p:spPr>
          <a:xfrm>
            <a:off x="10241280" y="2834640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Mock 工具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840480"/>
            <a:ext cx="10881360" cy="1035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8B5CF6"/>
                </a:solidFill>
                <a:latin typeface="微软雅黑" panose="020B0503020204020204" charset="-122"/>
              </a:rPr>
              <a:t>▍覆盖映射</a:t>
            </a:r>
            <a:r>
              <a:rPr sz="1600">
                <a:solidFill>
                  <a:srgbClr val="1E293B"/>
                </a:solidFill>
                <a:latin typeface="微软雅黑" panose="020B0503020204020204" charset="-122"/>
              </a:rPr>
              <a:t>  设计书功能要求→测试用例一一映射：接口/统计/签名/Mock/异常/恢复</a:t>
            </a:r>
            <a:endParaRPr sz="16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8B5CF6"/>
                </a:solidFill>
                <a:latin typeface="微软雅黑" panose="020B0503020204020204" charset="-122"/>
              </a:rPr>
              <a:t>▍运行方式</a:t>
            </a:r>
            <a:r>
              <a:rPr sz="1600">
                <a:solidFill>
                  <a:srgbClr val="1E293B"/>
                </a:solidFill>
                <a:latin typeface="微软雅黑" panose="020B0503020204020204" charset="-122"/>
              </a:rPr>
              <a:t>  python -m pytest -q（全量），或定向 pytest tests/test_tool_registry.py 等</a:t>
            </a:r>
            <a:endParaRPr sz="16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8B5CF6"/>
                </a:solidFill>
                <a:latin typeface="微软雅黑" panose="020B0503020204020204" charset="-122"/>
              </a:rPr>
              <a:t>▍跨平台</a:t>
            </a:r>
            <a:r>
              <a:rPr sz="1600">
                <a:solidFill>
                  <a:srgbClr val="1E293B"/>
                </a:solidFill>
                <a:latin typeface="微软雅黑" panose="020B0503020204020204" charset="-122"/>
              </a:rPr>
              <a:t>  Windows 实测通过；Ubuntu 2</a:t>
            </a:r>
            <a:r>
              <a:rPr lang="en-US" sz="1600">
                <a:solidFill>
                  <a:srgbClr val="1E293B"/>
                </a:solidFill>
                <a:latin typeface="微软雅黑" panose="020B0503020204020204" charset="-122"/>
              </a:rPr>
              <a:t>2</a:t>
            </a:r>
            <a:r>
              <a:rPr sz="1600">
                <a:solidFill>
                  <a:srgbClr val="1E293B"/>
                </a:solidFill>
                <a:latin typeface="微软雅黑" panose="020B0503020204020204" charset="-122"/>
              </a:rPr>
              <a:t>.04 兼容验证；代码路径全 pathlib + UTF-8</a:t>
            </a:r>
            <a:endParaRPr sz="160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55308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rPr lang="en-US"/>
              <a:t>10 </a:t>
            </a:r>
            <a:r>
              <a:t>端到端演示：整理下载目录（场景 6）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复杂任务 · 5 组协作 · 完整数据流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1737360" cy="12801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554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① 用户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65960"/>
            <a:ext cx="1554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整理下载目录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9202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800" b="0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14600" y="1463040"/>
            <a:ext cx="1737360" cy="12801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06040" y="1554480"/>
            <a:ext cx="1554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② 第1组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40" y="1965960"/>
            <a:ext cx="1554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意图理解 → organize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19202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800" b="0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80560" y="1463040"/>
            <a:ext cx="1737360" cy="12801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1554480"/>
            <a:ext cx="1554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③ 第5组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1965960"/>
            <a:ext cx="1554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安全检查 approved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19202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800" b="0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6520" y="1463040"/>
            <a:ext cx="1737360" cy="12801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1554480"/>
            <a:ext cx="1554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④ 第2组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1965960"/>
            <a:ext cx="1554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规划 → 路由到工具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80" y="19202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800" b="0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80" y="1463040"/>
            <a:ext cx="1737360" cy="12801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0" y="1554480"/>
            <a:ext cx="1554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⑤ 第4组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1965960"/>
            <a:ext cx="1554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organize_downloads 技能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19202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800" b="0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378440" y="1463040"/>
            <a:ext cx="1737360" cy="12801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69880" y="1554480"/>
            <a:ext cx="1554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⑥ 第5组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69880" y="1965960"/>
            <a:ext cx="1554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审计 + RAG 存储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291840"/>
            <a:ext cx="11064240" cy="292608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3520440"/>
            <a:ext cx="103327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SkillLibrary 执行：</a:t>
            </a:r>
          </a:p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  1. 扫描 ~/Downloads 全部文件</a:t>
            </a:r>
          </a:p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  2. 按扩展名映射类别（文档/图片/视频/音频/压缩包/代码/其他）</a:t>
            </a:r>
          </a:p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  3. 逐类创建子目录 → 移动文件</a:t>
            </a:r>
          </a:p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  4. 返回 {success:true, result:"整理完成: 共 N 个文件，分类 M 类"}</a:t>
            </a:r>
          </a:p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界面统计更新(get_stats) + 审计(第5组) + 中文总结(第1组)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设计书演示场景全覆盖核对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6 个演示场景全部可支撑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3383280" cy="17373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场景 1｜打开文件管理器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3017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app_open 工具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1463040"/>
            <a:ext cx="3383280" cy="17373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00200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场景 2｜导航到目录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103120"/>
            <a:ext cx="3017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list_directory + 路径能力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383280" cy="17373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600200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场景 3｜创建 project 文件夹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103120"/>
            <a:ext cx="3017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create_directory 工具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474720"/>
            <a:ext cx="3383280" cy="17373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611880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场景 4｜编辑 test.txt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114800"/>
            <a:ext cx="3017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edit_file / write_text_file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120" y="3474720"/>
            <a:ext cx="3383280" cy="17373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611880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场景 5｜切换窗口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14800"/>
            <a:ext cx="3017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activate_window / switch_app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46720" y="3474720"/>
            <a:ext cx="3383280" cy="17373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3611880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场景 6｜整理下载目录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4114800"/>
            <a:ext cx="3017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organize_downloads 技能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57784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核心场景 6「整理下载目录」已在真机完整跑通（见前一页）。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性能优化与跨平台可移植性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运行更快 · 省 token · 双平台可用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8B5CF6"/>
                </a:solidFill>
                <a:latin typeface="微软雅黑" panose="020B0503020204020204" charset="-122"/>
              </a:rPr>
              <a:t>▍token 优化</a:t>
            </a:r>
            <a:r>
              <a:rPr sz="1700">
                <a:solidFill>
                  <a:srgbClr val="1E293B"/>
                </a:solidFill>
                <a:latin typeface="微软雅黑" panose="020B0503020204020204" charset="-122"/>
              </a:rPr>
              <a:t>  工具结果超长自动截断(默认 4000 字符) + 循环上限(15 步) + max_tokens，对齐 LangGraph 社区实践</a:t>
            </a:r>
            <a:endParaRPr sz="17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8B5CF6"/>
                </a:solidFill>
                <a:latin typeface="微软雅黑" panose="020B0503020204020204" charset="-122"/>
              </a:rPr>
              <a:t>▍连接复用</a:t>
            </a:r>
            <a:r>
              <a:rPr sz="1700">
                <a:solidFill>
                  <a:srgbClr val="1E293B"/>
                </a:solidFill>
                <a:latin typeface="微软雅黑" panose="020B0503020204020204" charset="-122"/>
              </a:rPr>
              <a:t>  requests.Session 线程本地复用 TCP/TLS 连接，避免反复握手</a:t>
            </a:r>
            <a:endParaRPr sz="17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8B5CF6"/>
                </a:solidFill>
                <a:latin typeface="微软雅黑" panose="020B0503020204020204" charset="-122"/>
              </a:rPr>
              <a:t>▍联网双模式</a:t>
            </a:r>
            <a:r>
              <a:rPr sz="1700">
                <a:solidFill>
                  <a:srgbClr val="1E293B"/>
                </a:solidFill>
                <a:latin typeface="微软雅黑" panose="020B0503020204020204" charset="-122"/>
              </a:rPr>
              <a:t>  百炼服务端搜索(enable_search) / 本地搜索工具，总开关统一管理，隐藏低质量本地搜索</a:t>
            </a:r>
            <a:endParaRPr sz="17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8B5CF6"/>
                </a:solidFill>
                <a:latin typeface="微软雅黑" panose="020B0503020204020204" charset="-122"/>
              </a:rPr>
              <a:t>▍代码解释器</a:t>
            </a:r>
            <a:r>
              <a:rPr sz="1700">
                <a:solidFill>
                  <a:srgbClr val="1E293B"/>
                </a:solidFill>
                <a:latin typeface="微软雅黑" panose="020B0503020204020204" charset="-122"/>
              </a:rPr>
              <a:t>  纯计算回合自动启用百炼服务端 Python 沙箱（123²¹ 精确算出），模型不支持自动探测停用</a:t>
            </a:r>
            <a:endParaRPr sz="17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8B5CF6"/>
                </a:solidFill>
                <a:latin typeface="微软雅黑" panose="020B0503020204020204" charset="-122"/>
              </a:rPr>
              <a:t>▍跨平台</a:t>
            </a:r>
            <a:r>
              <a:rPr sz="1700">
                <a:solidFill>
                  <a:srgbClr val="1E293B"/>
                </a:solidFill>
                <a:latin typeface="微软雅黑" panose="020B0503020204020204" charset="-122"/>
              </a:rPr>
              <a:t>  Windows/Linux 双实现层（Win32 ctypes / xdotool+wmctrl），CDP 跨平台，全 pathlib + UTF-8</a:t>
            </a:r>
            <a:endParaRPr sz="17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8B5CF6"/>
                </a:solidFill>
                <a:latin typeface="微软雅黑" panose="020B0503020204020204" charset="-122"/>
              </a:rPr>
              <a:t>▍他人部署</a:t>
            </a:r>
            <a:r>
              <a:rPr sz="1700">
                <a:solidFill>
                  <a:srgbClr val="1E293B"/>
                </a:solidFill>
                <a:latin typeface="微软雅黑" panose="020B0503020204020204" charset="-122"/>
              </a:rPr>
              <a:t>  空 key 模板 config.yaml.example + setup_linux.sh 一键配置，个人 key 不入库</a:t>
            </a:r>
            <a:endParaRPr sz="170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成果与亮点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第 4 组交付概览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2560320" cy="21031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2560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4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59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7744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8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系统工具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2560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2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12 大功能域统一注册调用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0" y="1371600"/>
            <a:ext cx="2560320" cy="21031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1600200"/>
            <a:ext cx="2560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4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37744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8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OS 技能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834640"/>
            <a:ext cx="2560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2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组合操作一步到位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371600"/>
            <a:ext cx="2560320" cy="21031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1600200"/>
            <a:ext cx="2560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4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558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37744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8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测试全绿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834640"/>
            <a:ext cx="2560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2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功能-测试全覆盖映射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0" y="1371600"/>
            <a:ext cx="2560320" cy="21031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0" y="1600200"/>
            <a:ext cx="2560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4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237744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8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组联调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2834640"/>
            <a:ext cx="2560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2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Mock 同构 + 真机 LLM 打通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931920"/>
            <a:ext cx="10881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8B5CF6"/>
                </a:solidFill>
                <a:latin typeface="微软雅黑" panose="020B0503020204020204" charset="-122"/>
              </a:rPr>
              <a:t>▍架构价值</a:t>
            </a:r>
            <a:r>
              <a:rPr sz="1700">
                <a:solidFill>
                  <a:srgbClr val="1E293B"/>
                </a:solidFill>
                <a:latin typeface="微软雅黑" panose="020B0503020204020204" charset="-122"/>
              </a:rPr>
              <a:t>  工具层成为「决策」与「能力」的适配面，为 5 组数据流提供统一契约</a:t>
            </a:r>
            <a:endParaRPr sz="17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8B5CF6"/>
                </a:solidFill>
                <a:latin typeface="微软雅黑" panose="020B0503020204020204" charset="-122"/>
              </a:rPr>
              <a:t>▍工程规范</a:t>
            </a:r>
            <a:r>
              <a:rPr sz="1700">
                <a:solidFill>
                  <a:srgbClr val="1E293B"/>
                </a:solidFill>
                <a:latin typeface="微软雅黑" panose="020B0503020204020204" charset="-122"/>
              </a:rPr>
              <a:t>  11 条 ADR 决策记录 + 全注释 + 558 测试，代码质量可追溯</a:t>
            </a:r>
            <a:endParaRPr sz="17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8B5CF6"/>
                </a:solidFill>
                <a:latin typeface="微软雅黑" panose="020B0503020204020204" charset="-122"/>
              </a:rPr>
              <a:t>▍演示能力</a:t>
            </a:r>
            <a:r>
              <a:rPr sz="1700">
                <a:solidFill>
                  <a:srgbClr val="1E293B"/>
                </a:solidFill>
                <a:latin typeface="微软雅黑" panose="020B0503020204020204" charset="-122"/>
              </a:rPr>
              <a:t>  6 个设计书演示场景全覆盖，核心场景 6 真机跑通</a:t>
            </a:r>
            <a:endParaRPr sz="170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关键问题与解决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踩坑记录 → 工程经验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3017520" cy="7315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08760"/>
            <a:ext cx="2834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工具输出超长拖慢请求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1417320"/>
            <a:ext cx="7589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截断 + 可针对性再读，省 token 且不丢关键信息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240280"/>
            <a:ext cx="3017520" cy="7315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377440"/>
            <a:ext cx="2834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路径命名不统一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2286000"/>
            <a:ext cx="7589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move_file≡move_path 别名统一（ADR-0007）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108960"/>
            <a:ext cx="3017520" cy="7315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246120"/>
            <a:ext cx="2834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百炼代码解释器参数格式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3154680"/>
            <a:ext cx="7589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Chat Completions 顶层参数 + 仅流式 + 不混本地工具，实测 qwen3.7-flash 精确算 123²¹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977640"/>
            <a:ext cx="3017520" cy="7315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114800"/>
            <a:ext cx="2834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搜索工具冲突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4023360"/>
            <a:ext cx="7589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服务端搜索开启时隐藏本地搜索，避免模型选到低质量实现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4846320"/>
            <a:ext cx="3017520" cy="7315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983480"/>
            <a:ext cx="2834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个人 key 泄漏风险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4892040"/>
            <a:ext cx="7589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config.yaml 敏感字段 git 忽略，分发空模板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5715000"/>
            <a:ext cx="3017520" cy="7315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852160"/>
            <a:ext cx="2834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跨平台差异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5760720"/>
            <a:ext cx="7589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xdotool 需 Xorg 会话，脚本自动检测 Wayland 并提示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14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166370" y="627380"/>
            <a:ext cx="6096000" cy="9836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4000"/>
              <a:t>11 </a:t>
            </a:r>
            <a:r>
              <a:rPr lang="zh-CN" altLang="en-US" sz="4000"/>
              <a:t>完整</a:t>
            </a:r>
            <a:r>
              <a:rPr lang="en-US" altLang="zh-CN" sz="4000"/>
              <a:t>AI</a:t>
            </a:r>
            <a:r>
              <a:rPr lang="zh-CN" altLang="en-US" sz="4000"/>
              <a:t>助手设计：</a:t>
            </a:r>
            <a:endParaRPr lang="zh-CN" altLang="en-US"/>
          </a:p>
          <a:p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3977640" y="2141855"/>
            <a:ext cx="6096000" cy="156845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9600">
                <a:sym typeface="+mn-ea"/>
              </a:rPr>
              <a:t>Miniyu</a:t>
            </a:r>
            <a:endParaRPr lang="en-US" altLang="zh-CN" sz="9600">
              <a:sym typeface="+mn-ea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3211830" y="4067810"/>
            <a:ext cx="6096000" cy="460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 sz="2400" b="1"/>
              <a:t>一个常驻在你电脑本地的桌面 </a:t>
            </a:r>
            <a:r>
              <a:rPr lang="en-US" altLang="zh-CN" sz="2400" b="1"/>
              <a:t>AI </a:t>
            </a:r>
            <a:r>
              <a:rPr lang="zh-CN" altLang="en-US" sz="2400" b="1"/>
              <a:t>助手</a:t>
            </a:r>
            <a:endParaRPr lang="zh-CN" altLang="en-US" sz="2400" b="1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11696"/>
            <a:ext cx="12191365" cy="146304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085" cy="553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miniyu </a:t>
            </a:r>
            <a:r>
              <a:rPr lang="zh-CN" sz="3000" b="1">
                <a:solidFill>
                  <a:srgbClr val="1F3A5F"/>
                </a:solidFill>
              </a:rPr>
              <a:t>功能</a:t>
            </a:r>
            <a:r>
              <a:rPr sz="3000" b="1">
                <a:solidFill>
                  <a:srgbClr val="1F3A5F"/>
                </a:solidFill>
              </a:rPr>
              <a:t>：</a:t>
            </a:r>
            <a:r>
              <a:rPr lang="zh-CN" sz="3000" b="1">
                <a:solidFill>
                  <a:srgbClr val="1F3A5F"/>
                </a:solidFill>
              </a:rPr>
              <a:t>主要任务和</a:t>
            </a:r>
            <a:r>
              <a:rPr lang="zh-CN" sz="3000" b="1">
                <a:solidFill>
                  <a:srgbClr val="1F3A5F"/>
                </a:solidFill>
              </a:rPr>
              <a:t>操作</a:t>
            </a:r>
            <a:endParaRPr lang="zh-CN" sz="3000" b="1">
              <a:solidFill>
                <a:srgbClr val="1F3A5F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990600"/>
            <a:ext cx="11094085" cy="27432"/>
          </a:xfrm>
          <a:prstGeom prst="rect">
            <a:avLst/>
          </a:prstGeom>
          <a:solidFill>
            <a:srgbClr val="E87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文本框 5"/>
          <p:cNvSpPr txBox="1"/>
          <p:nvPr/>
        </p:nvSpPr>
        <p:spPr>
          <a:xfrm>
            <a:off x="548323" y="1442402"/>
            <a:ext cx="5080000" cy="4276725"/>
          </a:xfrm>
          <a:prstGeom prst="rect">
            <a:avLst/>
          </a:prstGeom>
        </p:spPr>
        <p:txBody>
          <a:bodyPr>
            <a:spAutoFit/>
          </a:bodyPr>
          <a:p>
            <a:pPr marL="0" inden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zh-CN" sz="1600" b="1" i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1.</a:t>
            </a:r>
            <a:r>
              <a:rPr lang="zh-CN" altLang="en-US" sz="1600" b="1" i="0">
                <a:solidFill>
                  <a:srgbClr val="EAEAEA"/>
                </a:solidFill>
                <a:latin typeface="-apple-system"/>
                <a:ea typeface="-apple-system"/>
              </a:rPr>
              <a:t>📂 </a:t>
            </a:r>
            <a:r>
              <a:rPr lang="zh-CN" altLang="en-US" sz="1600" b="1" i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文件与文件夹管理</a:t>
            </a:r>
            <a:endParaRPr lang="zh-CN" altLang="en-US" sz="1600" b="1" i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600" b="0" i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不管是简单的复制、移动、删除、重命名，还是批量处理多个文件。</a:t>
            </a:r>
            <a:endParaRPr lang="zh-CN" altLang="en-US" sz="1600" b="0" i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600" b="0" i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查找特定的文件：比如找超过 </a:t>
            </a:r>
            <a:r>
              <a:rPr lang="en-US" altLang="zh-CN" sz="1600" b="0" i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100MB </a:t>
            </a:r>
            <a:r>
              <a:rPr lang="zh-CN" altLang="en-US" sz="1600" b="0" i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的大文件、很久没修改的旧文件，或者按文件名关键词搜索。</a:t>
            </a:r>
            <a:endParaRPr lang="zh-CN" altLang="en-US" sz="1600" b="0" i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600" b="0" i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压缩和解压 </a:t>
            </a:r>
            <a:r>
              <a:rPr lang="en-US" altLang="zh-CN" sz="1600" b="0" i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ZIP </a:t>
            </a:r>
            <a:r>
              <a:rPr lang="zh-CN" altLang="en-US" sz="1600" b="0" i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包。</a:t>
            </a:r>
            <a:endParaRPr lang="zh-CN" altLang="en-US" sz="1600" b="0" i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endParaRPr lang="zh-CN" altLang="en-US" sz="1600" b="0" i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endParaRPr lang="zh-CN" altLang="en-US" sz="1600" b="0" i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endParaRPr lang="zh-CN" altLang="en-US" sz="1600" b="0" i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endParaRPr lang="zh-CN" altLang="en-US" sz="1600" b="0" i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None/>
            </a:pPr>
            <a:r>
              <a:rPr lang="en-US" altLang="zh-CN" sz="1600" b="1" i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3.</a:t>
            </a:r>
            <a:r>
              <a:rPr lang="zh-CN" altLang="en-US" sz="1600" b="1" i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🌐 应用交互与自动化</a:t>
            </a:r>
            <a:endParaRPr lang="zh-CN" altLang="en-US" sz="1600" b="1" i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600" b="0" i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浏览器控制：我可以帮你启动浏览器、打开网页、点击按钮、输入文字，或者直接把网页里的文章提取成文字给你看。</a:t>
            </a:r>
            <a:endParaRPr lang="zh-CN" altLang="en-US" sz="1600" b="0" i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600" b="0" i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QQ/IM </a:t>
            </a:r>
            <a:r>
              <a:rPr lang="zh-CN" altLang="en-US" sz="1600" b="0" i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助手：如果你在用 </a:t>
            </a:r>
            <a:r>
              <a:rPr lang="en-US" altLang="zh-CN" sz="1600" b="0" i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QQ</a:t>
            </a:r>
            <a:r>
              <a:rPr lang="zh-CN" altLang="en-US" sz="1600" b="0" i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，我可以帮你读取某个群或好友的最近聊天内容，或者帮你发送消息。</a:t>
            </a:r>
            <a:endParaRPr lang="zh-CN" altLang="en-US" sz="1600" b="0" i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None/>
            </a:pPr>
            <a:endParaRPr lang="zh-CN" altLang="en-US" sz="1600" b="0" i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095365" y="1442085"/>
            <a:ext cx="5547360" cy="37846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None/>
            </a:pPr>
            <a:r>
              <a:rPr lang="en-US" altLang="zh-CN" sz="1600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2.</a:t>
            </a:r>
            <a:r>
              <a:rPr lang="zh-CN" altLang="en-US" sz="1600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💻 系统与进程控制</a:t>
            </a:r>
            <a:endParaRPr lang="zh-CN" altLang="en-US" sz="1600" b="1" i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执行命令行指令（</a:t>
            </a:r>
            <a:r>
              <a:rPr lang="en-US" altLang="zh-CN" sz="1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Run Command</a:t>
            </a:r>
            <a:r>
              <a:rPr lang="zh-CN" altLang="en-US" sz="1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）。</a:t>
            </a:r>
            <a:endParaRPr lang="zh-CN" altLang="en-US" sz="1600" b="0" i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查看当前正在运行的进程列表，甚至帮你杀掉卡死的程序。</a:t>
            </a:r>
            <a:endParaRPr lang="zh-CN" altLang="en-US" sz="1600" b="0" i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管理环境变量。</a:t>
            </a:r>
            <a:endParaRPr lang="zh-CN" altLang="en-US" sz="16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marL="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endParaRPr lang="zh-CN" altLang="en-US" sz="16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marL="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endParaRPr lang="zh-CN" altLang="en-US" sz="16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marL="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endParaRPr lang="zh-CN" altLang="en-US" sz="16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marL="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endParaRPr lang="zh-CN" altLang="en-US" sz="16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marL="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endParaRPr lang="zh-CN" altLang="en-US" sz="16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marL="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endParaRPr lang="zh-CN" altLang="en-US" sz="16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marL="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None/>
            </a:pPr>
            <a:r>
              <a:rPr lang="en-US" altLang="zh-CN" sz="1600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4.</a:t>
            </a:r>
            <a:r>
              <a:rPr lang="zh-CN" altLang="en-US" sz="1600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👀 阅读与理解</a:t>
            </a:r>
            <a:endParaRPr lang="zh-CN" altLang="en-US" sz="1600" b="1" i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读取本地的文本文件（代码、日志、文档等）。</a:t>
            </a:r>
            <a:endParaRPr lang="zh-CN" altLang="en-US" sz="1600" b="0" i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看图说话：你可以发给我一张图片，我会告诉你里面是什么内容。</a:t>
            </a:r>
            <a:endParaRPr lang="zh-CN" altLang="en-US" sz="1600" b="0" i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endParaRPr lang="zh-CN" altLang="en-US" sz="16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11696"/>
            <a:ext cx="12191365" cy="146304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085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miniyu 系统设计总览：配置化 + 分层架构</a:t>
            </a:r>
            <a:endParaRPr sz="3000" b="1">
              <a:solidFill>
                <a:srgbClr val="1F3A5F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990600"/>
            <a:ext cx="11094085" cy="27432"/>
          </a:xfrm>
          <a:prstGeom prst="rect">
            <a:avLst/>
          </a:prstGeom>
          <a:solidFill>
            <a:srgbClr val="E87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11205" cy="4030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333333"/>
                </a:solidFill>
              </a:rPr>
              <a:t>◆ 配置化设计（不写死，改配置即变更）</a:t>
            </a:r>
            <a:endParaRPr sz="2400" b="1">
              <a:solidFill>
                <a:srgbClr val="333333"/>
              </a:solidFill>
            </a:endParaRP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333333"/>
                </a:solidFill>
              </a:rPr>
              <a:t>  config.yaml：LLM 提供商 / 模型 / 授权档位 / 联网开关 / 协调层 / 邮件,全部可调；模板为 config.yaml.example（不含任何个人密钥）</a:t>
            </a:r>
            <a:endParaRPr sz="2400">
              <a:solidFill>
                <a:srgbClr val="333333"/>
              </a:solidFill>
            </a:endParaRP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333333"/>
                </a:solidFill>
              </a:rPr>
              <a:t>  优先级：环境变量 &gt; config.yaml &gt; 内置默认值</a:t>
            </a:r>
            <a:endParaRPr sz="2400">
              <a:solidFill>
                <a:srgbClr val="333333"/>
              </a:solidFill>
            </a:endParaRP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333333"/>
                </a:solidFill>
              </a:rPr>
              <a:t>◆ 分层架构</a:t>
            </a:r>
            <a:endParaRPr sz="2400" b="1">
              <a:solidFill>
                <a:srgbClr val="333333"/>
              </a:solidFill>
            </a:endParaRP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333333"/>
                </a:solidFill>
              </a:rPr>
              <a:t>  第1组 AI Shell/HostAgent（意图）→ 第5组 协调+安全 → 第2组 规划 → 第3组 执行 → 第4组 工具/技能</a:t>
            </a:r>
            <a:endParaRPr sz="2400">
              <a:solidFill>
                <a:srgbClr val="333333"/>
              </a:solidFill>
            </a:endParaRP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333333"/>
                </a:solidFill>
              </a:rPr>
              <a:t>  数据流 1→5→2→3→4，第4组统一输出 tool_result_json</a:t>
            </a:r>
            <a:endParaRPr sz="2400">
              <a:solidFill>
                <a:srgbClr val="333333"/>
              </a:solidFill>
            </a:endParaRP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333333"/>
                </a:solidFill>
              </a:rPr>
              <a:t>◆ OS 原理落地：持久性(文件系统/目录管理) 由第4组工具层直接承载</a:t>
            </a:r>
            <a:endParaRPr sz="2400" b="1">
              <a:solidFill>
                <a:srgbClr val="333333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11696"/>
            <a:ext cx="12191365" cy="146304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085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LLM 三层自动回退链（主 → 本地 → 确定性脑）</a:t>
            </a:r>
            <a:endParaRPr sz="3000" b="1">
              <a:solidFill>
                <a:srgbClr val="1F3A5F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990600"/>
            <a:ext cx="11094085" cy="27432"/>
          </a:xfrm>
          <a:prstGeom prst="rect">
            <a:avLst/>
          </a:prstGeom>
          <a:solidFill>
            <a:srgbClr val="E87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11205" cy="52412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333333"/>
                </a:solidFill>
              </a:rPr>
              <a:t>◆ 第 1 层（主）</a:t>
            </a:r>
            <a:endParaRPr sz="2400" b="1">
              <a:solidFill>
                <a:srgbClr val="333333"/>
              </a:solidFill>
            </a:endParaRP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333333"/>
                </a:solidFill>
              </a:rPr>
              <a:t>  任意 OpenAI 兼容 API：阿里百炼 qwen / DeepSeek / 豆包…  function-calling 驱动 59 工具 + 26 技能</a:t>
            </a:r>
            <a:endParaRPr sz="2400">
              <a:solidFill>
                <a:srgbClr val="333333"/>
              </a:solidFill>
            </a:endParaRP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333333"/>
                </a:solidFill>
              </a:rPr>
              <a:t>◆ 第 2 层（降级）</a:t>
            </a:r>
            <a:endParaRPr sz="2400" b="1">
              <a:solidFill>
                <a:srgbClr val="333333"/>
              </a:solidFill>
            </a:endParaRP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333333"/>
                </a:solidFill>
              </a:rPr>
              <a:t>  主 API 超时/鉴权失败/断网时自动切本地 Ollama（localhost），恢复后每 5 分钟自动重试主 API</a:t>
            </a:r>
            <a:endParaRPr sz="2400">
              <a:solidFill>
                <a:srgbClr val="333333"/>
              </a:solidFill>
            </a:endParaRP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333333"/>
                </a:solidFill>
              </a:rPr>
              <a:t>  本地小模型走 tool_free 纯对话模式（不带几十个工具 schema，省 CPU 解析数十秒）</a:t>
            </a:r>
            <a:endParaRPr sz="2400">
              <a:solidFill>
                <a:srgbClr val="333333"/>
              </a:solidFill>
            </a:endParaRP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333333"/>
                </a:solidFill>
              </a:rPr>
              <a:t>◆ 第 3 层（兜底）</a:t>
            </a:r>
            <a:endParaRPr sz="2400" b="1">
              <a:solidFill>
                <a:srgbClr val="333333"/>
              </a:solidFill>
            </a:endParaRP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333333"/>
                </a:solidFill>
              </a:rPr>
              <a:t>  确定性脑 DeterministicBrain：纯规则、零依赖、无需网络/API key，离线也能完整演示全流程</a:t>
            </a:r>
            <a:endParaRPr sz="2400">
              <a:solidFill>
                <a:srgbClr val="333333"/>
              </a:solidFill>
            </a:endParaRP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333333"/>
                </a:solidFill>
              </a:rPr>
              <a:t>  模型支持运行时热切换 + Web 下拉 + force_local_mode()</a:t>
            </a:r>
            <a:endParaRPr sz="2400">
              <a:solidFill>
                <a:srgbClr val="333333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11696"/>
            <a:ext cx="12191365" cy="146304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085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Web 交互设计：流式 + 折叠面板 + 主题</a:t>
            </a:r>
            <a:endParaRPr sz="3000" b="1">
              <a:solidFill>
                <a:srgbClr val="1F3A5F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990600"/>
            <a:ext cx="11094085" cy="27432"/>
          </a:xfrm>
          <a:prstGeom prst="rect">
            <a:avLst/>
          </a:prstGeom>
          <a:solidFill>
            <a:srgbClr val="E87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11205" cy="45027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333333"/>
                </a:solidFill>
              </a:rPr>
              <a:t>◆ SSE 实时流式</a:t>
            </a:r>
            <a:endParaRPr sz="2400" b="1">
              <a:solidFill>
                <a:srgbClr val="333333"/>
              </a:solidFill>
            </a:endParaRP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333333"/>
                </a:solidFill>
              </a:rPr>
              <a:t>  /chat 立即返 task_id → 后台 run_stream 逐 chunk 入队 → /task/&lt;id&gt;/events 推送</a:t>
            </a:r>
            <a:endParaRPr sz="2400">
              <a:solidFill>
                <a:srgbClr val="333333"/>
              </a:solidFill>
            </a:endParaRP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333333"/>
                </a:solidFill>
              </a:rPr>
              <a:t>  reasoning/token/tool_call/confirm/done + 15s 心跳</a:t>
            </a:r>
            <a:endParaRPr sz="2400">
              <a:solidFill>
                <a:srgbClr val="333333"/>
              </a:solidFill>
            </a:endParaRP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333333"/>
                </a:solidFill>
              </a:rPr>
              <a:t>◆ DeepSeek 式折叠</a:t>
            </a:r>
            <a:endParaRPr sz="2400" b="1">
              <a:solidFill>
                <a:srgbClr val="333333"/>
              </a:solidFill>
            </a:endParaRP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333333"/>
                </a:solidFill>
              </a:rPr>
              <a:t>  思考完成折叠「已深度思考(用时 Xs)」；工具调用折叠「工具调用(N 个)」，限高 260px 内部滚动</a:t>
            </a:r>
            <a:endParaRPr sz="2400">
              <a:solidFill>
                <a:srgbClr val="333333"/>
              </a:solidFill>
            </a:endParaRP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333333"/>
                </a:solidFill>
              </a:rPr>
              <a:t>  红色「⏹ 停止」按钮可打断死循环/超长输出（两层 stop_check + 幂等断电点）</a:t>
            </a:r>
            <a:endParaRPr sz="2400">
              <a:solidFill>
                <a:srgbClr val="333333"/>
              </a:solidFill>
            </a:endParaRP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333333"/>
                </a:solidFill>
              </a:rPr>
              <a:t>◆ 主题 + 语音</a:t>
            </a:r>
            <a:endParaRPr sz="2400" b="1">
              <a:solidFill>
                <a:srgbClr val="333333"/>
              </a:solidFill>
            </a:endParaRP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333333"/>
                </a:solidFill>
              </a:rPr>
              <a:t>  深/浅色 CSS 变量切换 + localStorage 记忆 + 首帧防闪烁；语音用 Web Speech API（Chrome/Edge），连续监听不漏字</a:t>
            </a:r>
            <a:endParaRPr sz="2400">
              <a:solidFill>
                <a:srgbClr val="333333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11696"/>
            <a:ext cx="12191365" cy="146304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085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授权档位 + 四层安全（base/advanced/full + 沙箱）</a:t>
            </a:r>
            <a:endParaRPr sz="3000" b="1">
              <a:solidFill>
                <a:srgbClr val="1F3A5F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990600"/>
            <a:ext cx="11094085" cy="27432"/>
          </a:xfrm>
          <a:prstGeom prst="rect">
            <a:avLst/>
          </a:prstGeom>
          <a:solidFill>
            <a:srgbClr val="E87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11205" cy="45027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333333"/>
                </a:solidFill>
              </a:rPr>
              <a:t>◆ 统一安全模型</a:t>
            </a:r>
            <a:endParaRPr sz="2400" b="1">
              <a:solidFill>
                <a:srgbClr val="333333"/>
              </a:solidFill>
            </a:endParaRP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333333"/>
                </a:solidFill>
              </a:rPr>
              <a:t>  网络安全总开关 web_search（开/关一切联网能力）+ 三档授权 agent.authorization</a:t>
            </a:r>
            <a:endParaRPr sz="2400">
              <a:solidFill>
                <a:srgbClr val="333333"/>
              </a:solidFill>
            </a:endParaRP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333333"/>
                </a:solidFill>
              </a:rPr>
              <a:t>◆ 三档授权</a:t>
            </a:r>
            <a:endParaRPr sz="2400" b="1">
              <a:solidFill>
                <a:srgbClr val="333333"/>
              </a:solidFill>
            </a:endParaRP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333333"/>
                </a:solidFill>
              </a:rPr>
              <a:t>  base 基础授权：全部高危操作需确认；advanced 高级授权：仅永久删除文件需确认</a:t>
            </a:r>
            <a:r>
              <a:rPr lang="zh-CN" sz="2400">
                <a:solidFill>
                  <a:srgbClr val="333333"/>
                </a:solidFill>
              </a:rPr>
              <a:t>和危及用户正常使用的操作禁止</a:t>
            </a:r>
            <a:r>
              <a:rPr sz="2400">
                <a:solidFill>
                  <a:srgbClr val="333333"/>
                </a:solidFill>
              </a:rPr>
              <a:t>；full 全自动：从不确认(含删除)</a:t>
            </a:r>
            <a:endParaRPr sz="2400">
              <a:solidFill>
                <a:srgbClr val="333333"/>
              </a:solidFill>
            </a:endParaRP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333333"/>
                </a:solidFill>
              </a:rPr>
              <a:t>  Web 顶栏下拉可运行时切换</a:t>
            </a:r>
            <a:endParaRPr sz="2400">
              <a:solidFill>
                <a:srgbClr val="333333"/>
              </a:solidFill>
            </a:endParaRP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333333"/>
                </a:solidFill>
              </a:rPr>
              <a:t>◆ 危险指令硬拦截（SafetySandbox 接入执行链）</a:t>
            </a:r>
            <a:endParaRPr sz="2400" b="1">
              <a:solidFill>
                <a:srgbClr val="333333"/>
              </a:solidFill>
            </a:endParaRP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333333"/>
                </a:solidFill>
              </a:rPr>
              <a:t>  rm/format/shutdown/dd/mkfs/fdisk/Stop-Computer 等 → 绕过确认门直接拒绝</a:t>
            </a:r>
            <a:endParaRPr sz="2400">
              <a:solidFill>
                <a:srgbClr val="333333"/>
              </a:solidFill>
            </a:endParaRP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333333"/>
                </a:solidFill>
              </a:rPr>
              <a:t>  实测：shutdown 不再弹确认窗即被拦截；正常操作不受影响（558 测试全绿）</a:t>
            </a:r>
            <a:endParaRPr sz="2400">
              <a:solidFill>
                <a:srgbClr val="333333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11696"/>
            <a:ext cx="12191365" cy="146304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085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可移植性与密钥安全（Windows/Linux 双平台）</a:t>
            </a:r>
            <a:endParaRPr sz="3000" b="1">
              <a:solidFill>
                <a:srgbClr val="1F3A5F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990600"/>
            <a:ext cx="11094085" cy="27432"/>
          </a:xfrm>
          <a:prstGeom prst="rect">
            <a:avLst/>
          </a:prstGeom>
          <a:solidFill>
            <a:srgbClr val="E87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11205" cy="43999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333333"/>
                </a:solidFill>
              </a:rPr>
              <a:t>◆ 双平台同一套代码</a:t>
            </a:r>
            <a:endParaRPr sz="2400" b="1">
              <a:solidFill>
                <a:srgbClr val="333333"/>
              </a:solidFill>
            </a:endParaRP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333333"/>
                </a:solidFill>
              </a:rPr>
              <a:t>  相对路径 + pathlib + platform.system() 自动适配；app_controller 分 Windows/Linux；browser_controller 走跨平台 CDP</a:t>
            </a:r>
            <a:endParaRPr sz="2400">
              <a:solidFill>
                <a:srgbClr val="333333"/>
              </a:solidFill>
            </a:endParaRP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333333"/>
                </a:solidFill>
              </a:rPr>
              <a:t>◆ 密钥不入库</a:t>
            </a:r>
            <a:endParaRPr sz="2400" b="1">
              <a:solidFill>
                <a:srgbClr val="333333"/>
              </a:solidFill>
            </a:endParaRP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333333"/>
                </a:solidFill>
              </a:rPr>
              <a:t>  config.yaml（含真实 key/授权码）git skip-worktree 保护不入库；分发只带 config.yaml.example 空模板</a:t>
            </a:r>
            <a:endParaRPr sz="2400">
              <a:solidFill>
                <a:srgbClr val="333333"/>
              </a:solidFill>
            </a:endParaRP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333333"/>
                </a:solidFill>
              </a:rPr>
              <a:t>  Ubuntu 一键：setup_linux.sh 装依赖 + 生成配置 + 检测 Xorg/Wayland</a:t>
            </a:r>
            <a:endParaRPr sz="2400">
              <a:solidFill>
                <a:srgbClr val="333333"/>
              </a:solidFill>
            </a:endParaRP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333333"/>
                </a:solidFill>
              </a:rPr>
              <a:t>◆ 资源效率</a:t>
            </a:r>
            <a:endParaRPr sz="2400" b="1">
              <a:solidFill>
                <a:srgbClr val="333333"/>
              </a:solidFill>
            </a:endParaRP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333333"/>
                </a:solidFill>
              </a:rPr>
              <a:t>  工具结果超长截断(默认4000字符) + HTTP 连接池(省 TCP/TLS 握手) + 历史会话侧栏(最近访问排序)</a:t>
            </a:r>
            <a:endParaRPr sz="2400">
              <a:solidFill>
                <a:srgbClr val="333333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55308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rPr lang="en-US"/>
              <a:t>12 </a:t>
            </a:r>
            <a:r>
              <a:t>总结与展望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1310" y="1758950"/>
            <a:ext cx="11549380" cy="23482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8B5CF6"/>
                </a:solidFill>
                <a:latin typeface="微软雅黑" panose="020B0503020204020204" charset="-122"/>
              </a:rPr>
              <a:t>▍已达成</a:t>
            </a:r>
            <a:r>
              <a:rPr sz="2000">
                <a:solidFill>
                  <a:srgbClr val="1E293B"/>
                </a:solidFill>
                <a:latin typeface="微软雅黑" panose="020B0503020204020204" charset="-122"/>
              </a:rPr>
              <a:t>  59 工具 + 26 技能 + 558 测试全绿 + 6 演示场景全覆盖 + 真机 LLM 联调</a:t>
            </a:r>
            <a:r>
              <a:rPr lang="en-US" sz="2000">
                <a:solidFill>
                  <a:srgbClr val="1E293B"/>
                </a:solidFill>
                <a:latin typeface="微软雅黑" panose="020B0503020204020204" charset="-122"/>
              </a:rPr>
              <a:t>+</a:t>
            </a:r>
            <a:r>
              <a:rPr lang="zh-CN" altLang="en-US" sz="2000">
                <a:solidFill>
                  <a:srgbClr val="1E293B"/>
                </a:solidFill>
                <a:latin typeface="微软雅黑" panose="020B0503020204020204" charset="-122"/>
              </a:rPr>
              <a:t>真实</a:t>
            </a:r>
            <a:r>
              <a:rPr lang="en-US" altLang="zh-CN" sz="2000">
                <a:solidFill>
                  <a:srgbClr val="1E293B"/>
                </a:solidFill>
                <a:latin typeface="微软雅黑" panose="020B0503020204020204" charset="-122"/>
              </a:rPr>
              <a:t>AI</a:t>
            </a:r>
            <a:r>
              <a:rPr lang="zh-CN" altLang="en-US" sz="2000">
                <a:solidFill>
                  <a:srgbClr val="1E293B"/>
                </a:solidFill>
                <a:latin typeface="微软雅黑" panose="020B0503020204020204" charset="-122"/>
              </a:rPr>
              <a:t>助手设计</a:t>
            </a:r>
            <a:r>
              <a:rPr lang="en-US" altLang="zh-CN" sz="2000">
                <a:solidFill>
                  <a:srgbClr val="1E293B"/>
                </a:solidFill>
                <a:latin typeface="微软雅黑" panose="020B0503020204020204" charset="-122"/>
              </a:rPr>
              <a:t>Miniyu</a:t>
            </a:r>
            <a:endParaRPr sz="20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8B5CF6"/>
                </a:solidFill>
                <a:latin typeface="微软雅黑" panose="020B0503020204020204" charset="-122"/>
              </a:rPr>
              <a:t>▍架构沉淀</a:t>
            </a:r>
            <a:r>
              <a:rPr sz="2000">
                <a:solidFill>
                  <a:srgbClr val="1E293B"/>
                </a:solidFill>
                <a:latin typeface="微软雅黑" panose="020B0503020204020204" charset="-122"/>
              </a:rPr>
              <a:t>  工具层作为「决策-能力」适配面，统一契约 tool_result_json 贯穿 5 组</a:t>
            </a:r>
            <a:endParaRPr sz="20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8B5CF6"/>
                </a:solidFill>
                <a:latin typeface="微软雅黑" panose="020B0503020204020204" charset="-122"/>
              </a:rPr>
              <a:t>▍展望 1</a:t>
            </a:r>
            <a:r>
              <a:rPr sz="2000">
                <a:solidFill>
                  <a:srgbClr val="1E293B"/>
                </a:solidFill>
                <a:latin typeface="微软雅黑" panose="020B0503020204020204" charset="-122"/>
              </a:rPr>
              <a:t>  接入 MCP 服务端，让工具层可被任意 MCP 客户端复用</a:t>
            </a:r>
            <a:endParaRPr sz="20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8B5CF6"/>
                </a:solidFill>
                <a:latin typeface="微软雅黑" panose="020B0503020204020204" charset="-122"/>
              </a:rPr>
              <a:t>▍展望 2</a:t>
            </a:r>
            <a:r>
              <a:rPr sz="2000">
                <a:solidFill>
                  <a:srgbClr val="1E293B"/>
                </a:solidFill>
                <a:latin typeface="微软雅黑" panose="020B0503020204020204" charset="-122"/>
              </a:rPr>
              <a:t>  RAG 向量检索升级为 embedding 方案，提升轨迹召回精度</a:t>
            </a:r>
            <a:endParaRPr sz="20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8B5CF6"/>
                </a:solidFill>
                <a:latin typeface="微软雅黑" panose="020B0503020204020204" charset="-122"/>
              </a:rPr>
              <a:t>▍展望 3</a:t>
            </a:r>
            <a:r>
              <a:rPr sz="2000">
                <a:solidFill>
                  <a:srgbClr val="1E293B"/>
                </a:solidFill>
                <a:latin typeface="微软雅黑" panose="020B0503020204020204" charset="-122"/>
              </a:rPr>
              <a:t>  Linux 桌面自动化深度适配（AT-SPI 控件检测 + 工具层协同）</a:t>
            </a:r>
            <a:endParaRPr sz="200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530352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24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谢谢观看 · 请各位老师同学指正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165.6,&quot;left&quot;:50.4,&quot;top&quot;:108,&quot;width&quot;:864}"/>
</p:tagLst>
</file>

<file path=ppt/tags/tag2.xml><?xml version="1.0" encoding="utf-8"?>
<p:tagLst xmlns:p="http://schemas.openxmlformats.org/presentationml/2006/main">
  <p:tag name="KSO_WM_DIAGRAM_VIRTUALLY_FRAME" val="{&quot;height&quot;:165.6,&quot;left&quot;:50.4,&quot;top&quot;:108,&quot;width&quot;:864}"/>
</p:tagLst>
</file>

<file path=ppt/tags/tag3.xml><?xml version="1.0" encoding="utf-8"?>
<p:tagLst xmlns:p="http://schemas.openxmlformats.org/presentationml/2006/main">
  <p:tag name="KSO_WM_DIAGRAM_VIRTUALLY_FRAME" val="{&quot;height&quot;:165.6,&quot;left&quot;:50.4,&quot;top&quot;:108,&quot;width&quot;:864}"/>
</p:tagLst>
</file>

<file path=ppt/tags/tag4.xml><?xml version="1.0" encoding="utf-8"?>
<p:tagLst xmlns:p="http://schemas.openxmlformats.org/presentationml/2006/main">
  <p:tag name="KSO_WM_DIAGRAM_VIRTUALLY_FRAME" val="{&quot;height&quot;:165.6,&quot;left&quot;:50.4,&quot;top&quot;:108,&quot;width&quot;:864}"/>
</p:tagLst>
</file>

<file path=ppt/tags/tag5.xml><?xml version="1.0" encoding="utf-8"?>
<p:tagLst xmlns:p="http://schemas.openxmlformats.org/presentationml/2006/main">
  <p:tag name="KSO_WM_DIAGRAM_VIRTUALLY_FRAME" val="{&quot;height&quot;:165.6,&quot;left&quot;:50.4,&quot;top&quot;:108,&quot;width&quot;:864}"/>
</p:tagLst>
</file>

<file path=ppt/tags/tag6.xml><?xml version="1.0" encoding="utf-8"?>
<p:tagLst xmlns:p="http://schemas.openxmlformats.org/presentationml/2006/main">
  <p:tag name="KSO_WM_DIAGRAM_VIRTUALLY_FRAME" val="{&quot;height&quot;:165.6,&quot;left&quot;:50.4,&quot;top&quot;:108,&quot;width&quot;:864}"/>
</p:tagLst>
</file>

<file path=ppt/tags/tag7.xml><?xml version="1.0" encoding="utf-8"?>
<p:tagLst xmlns:p="http://schemas.openxmlformats.org/presentationml/2006/main">
  <p:tag name="KSO_WM_DIAGRAM_VIRTUALLY_FRAME" val="{&quot;height&quot;:165.6,&quot;left&quot;:50.4,&quot;top&quot;:108,&quot;width&quot;:864}"/>
</p:tagLst>
</file>

<file path=ppt/tags/tag8.xml><?xml version="1.0" encoding="utf-8"?>
<p:tagLst xmlns:p="http://schemas.openxmlformats.org/presentationml/2006/main">
  <p:tag name="KSO_WM_DIAGRAM_VIRTUALLY_FRAME" val="{&quot;height&quot;:165.6,&quot;left&quot;:50.4,&quot;top&quot;:108,&quot;width&quot;:864}"/>
</p:tagLst>
</file>

<file path=ppt/tags/tag9.xml><?xml version="1.0" encoding="utf-8"?>
<p:tagLst xmlns:p="http://schemas.openxmlformats.org/presentationml/2006/main">
  <p:tag name="KSO_WM_DIAGRAM_VIRTUALLY_FRAME" val="{&quot;height&quot;:165.6,&quot;left&quot;:50.4,&quot;top&quot;:108,&quot;width&quot;:864}"/>
</p:tagLst>
</file>

<file path=ppt/tags/tag10.xml><?xml version="1.0" encoding="utf-8"?>
<p:tagLst xmlns:p="http://schemas.openxmlformats.org/presentationml/2006/main">
  <p:tag name="KSO_WM_DIAGRAM_VIRTUALLY_FRAME" val="{&quot;height&quot;:165.6,&quot;left&quot;:50.4,&quot;top&quot;:108,&quot;width&quot;:864}"/>
</p:tagLst>
</file>

<file path=ppt/tags/tag11.xml><?xml version="1.0" encoding="utf-8"?>
<p:tagLst xmlns:p="http://schemas.openxmlformats.org/presentationml/2006/main">
  <p:tag name="KSO_WM_DIAGRAM_VIRTUALLY_FRAME" val="{&quot;height&quot;:165.6,&quot;left&quot;:50.4,&quot;top&quot;:108,&quot;width&quot;:864}"/>
</p:tagLst>
</file>

<file path=ppt/tags/tag12.xml><?xml version="1.0" encoding="utf-8"?>
<p:tagLst xmlns:p="http://schemas.openxmlformats.org/presentationml/2006/main">
  <p:tag name="KSO_WM_DIAGRAM_VIRTUALLY_FRAME" val="{&quot;height&quot;:165.6,&quot;left&quot;:50.4,&quot;top&quot;:108,&quot;width&quot;:864}"/>
</p:tagLst>
</file>

<file path=ppt/tags/tag13.xml><?xml version="1.0" encoding="utf-8"?>
<p:tagLst xmlns:p="http://schemas.openxmlformats.org/presentationml/2006/main">
  <p:tag name="KSO_WM_DIAGRAM_VIRTUALLY_FRAME" val="{&quot;height&quot;:165.6,&quot;left&quot;:50.4,&quot;top&quot;:108,&quot;width&quot;:864}"/>
</p:tagLst>
</file>

<file path=ppt/tags/tag14.xml><?xml version="1.0" encoding="utf-8"?>
<p:tagLst xmlns:p="http://schemas.openxmlformats.org/presentationml/2006/main">
  <p:tag name="KSO_WM_DIAGRAM_VIRTUALLY_FRAME" val="{&quot;height&quot;:165.6,&quot;left&quot;:50.4,&quot;top&quot;:108,&quot;width&quot;:864}"/>
</p:tagLst>
</file>

<file path=ppt/tags/tag15.xml><?xml version="1.0" encoding="utf-8"?>
<p:tagLst xmlns:p="http://schemas.openxmlformats.org/presentationml/2006/main">
  <p:tag name="KSO_WM_DIAGRAM_VIRTUALLY_FRAME" val="{&quot;height&quot;:165.6,&quot;left&quot;:50.4,&quot;top&quot;:108,&quot;width&quot;:864}"/>
</p:tagLst>
</file>

<file path=ppt/tags/tag16.xml><?xml version="1.0" encoding="utf-8"?>
<p:tagLst xmlns:p="http://schemas.openxmlformats.org/presentationml/2006/main">
  <p:tag name="KSO_WM_DIAGRAM_VIRTUALLY_FRAME" val="{&quot;height&quot;:165.6,&quot;left&quot;:50.4,&quot;top&quot;:108,&quot;width&quot;:864}"/>
</p:tagLst>
</file>

<file path=ppt/tags/tag17.xml><?xml version="1.0" encoding="utf-8"?>
<p:tagLst xmlns:p="http://schemas.openxmlformats.org/presentationml/2006/main">
  <p:tag name="KSO_WM_DIAGRAM_VIRTUALLY_FRAME" val="{&quot;height&quot;:158.4,&quot;left&quot;:331.2,&quot;top&quot;:115.2,&quot;width&quot;:619.2}"/>
</p:tagLst>
</file>

<file path=ppt/tags/tag18.xml><?xml version="1.0" encoding="utf-8"?>
<p:tagLst xmlns:p="http://schemas.openxmlformats.org/presentationml/2006/main">
  <p:tag name="KSO_WM_DIAGRAM_VIRTUALLY_FRAME" val="{&quot;height&quot;:158.4,&quot;left&quot;:331.2,&quot;top&quot;:115.2,&quot;width&quot;:619.2}"/>
</p:tagLst>
</file>

<file path=ppt/tags/tag19.xml><?xml version="1.0" encoding="utf-8"?>
<p:tagLst xmlns:p="http://schemas.openxmlformats.org/presentationml/2006/main">
  <p:tag name="KSO_WM_DIAGRAM_VIRTUALLY_FRAME" val="{&quot;height&quot;:158.4,&quot;left&quot;:331.2,&quot;top&quot;:115.2,&quot;width&quot;:619.2}"/>
</p:tagLst>
</file>

<file path=ppt/tags/tag20.xml><?xml version="1.0" encoding="utf-8"?>
<p:tagLst xmlns:p="http://schemas.openxmlformats.org/presentationml/2006/main">
  <p:tag name="KSO_WM_DIAGRAM_VIRTUALLY_FRAME" val="{&quot;height&quot;:158.4,&quot;left&quot;:331.2,&quot;top&quot;:115.2,&quot;width&quot;:619.2}"/>
</p:tagLst>
</file>

<file path=ppt/tags/tag21.xml><?xml version="1.0" encoding="utf-8"?>
<p:tagLst xmlns:p="http://schemas.openxmlformats.org/presentationml/2006/main">
  <p:tag name="KSO_WM_DIAGRAM_VIRTUALLY_FRAME" val="{&quot;height&quot;:158.4,&quot;left&quot;:331.2,&quot;top&quot;:115.2,&quot;width&quot;:619.2}"/>
</p:tagLst>
</file>

<file path=ppt/tags/tag22.xml><?xml version="1.0" encoding="utf-8"?>
<p:tagLst xmlns:p="http://schemas.openxmlformats.org/presentationml/2006/main">
  <p:tag name="KSO_WM_DIAGRAM_VIRTUALLY_FRAME" val="{&quot;height&quot;:158.4,&quot;left&quot;:331.2,&quot;top&quot;:115.2,&quot;width&quot;:619.2}"/>
</p:tagLst>
</file>

<file path=ppt/tags/tag23.xml><?xml version="1.0" encoding="utf-8"?>
<p:tagLst xmlns:p="http://schemas.openxmlformats.org/presentationml/2006/main">
  <p:tag name="KSO_WM_DIAGRAM_VIRTUALLY_FRAME" val="{&quot;height&quot;:158.4,&quot;left&quot;:331.2,&quot;top&quot;:115.2,&quot;width&quot;:619.2}"/>
</p:tagLst>
</file>

<file path=ppt/tags/tag24.xml><?xml version="1.0" encoding="utf-8"?>
<p:tagLst xmlns:p="http://schemas.openxmlformats.org/presentationml/2006/main">
  <p:tag name="KSO_WM_DIAGRAM_VIRTUALLY_FRAME" val="{&quot;height&quot;:158.4,&quot;left&quot;:331.2,&quot;top&quot;:115.2,&quot;width&quot;:619.2}"/>
</p:tagLst>
</file>

<file path=ppt/tags/tag25.xml><?xml version="1.0" encoding="utf-8"?>
<p:tagLst xmlns:p="http://schemas.openxmlformats.org/presentationml/2006/main">
  <p:tag name="KSO_WM_DIAGRAM_VIRTUALLY_FRAME" val="{&quot;height&quot;:158.4,&quot;left&quot;:331.2,&quot;top&quot;:115.2,&quot;width&quot;:619.2}"/>
</p:tagLst>
</file>

<file path=ppt/tags/tag26.xml><?xml version="1.0" encoding="utf-8"?>
<p:tagLst xmlns:p="http://schemas.openxmlformats.org/presentationml/2006/main">
  <p:tag name="KSO_WM_DIAGRAM_VIRTUALLY_FRAME" val="{&quot;height&quot;:158.4,&quot;left&quot;:331.2,&quot;top&quot;:115.2,&quot;width&quot;:619.2}"/>
</p:tagLst>
</file>

<file path=ppt/tags/tag27.xml><?xml version="1.0" encoding="utf-8"?>
<p:tagLst xmlns:p="http://schemas.openxmlformats.org/presentationml/2006/main">
  <p:tag name="KSO_WM_DIAGRAM_VIRTUALLY_FRAME" val="{&quot;height&quot;:158.4,&quot;left&quot;:331.2,&quot;top&quot;:115.2,&quot;width&quot;:619.2}"/>
</p:tagLst>
</file>

<file path=ppt/tags/tag28.xml><?xml version="1.0" encoding="utf-8"?>
<p:tagLst xmlns:p="http://schemas.openxmlformats.org/presentationml/2006/main">
  <p:tag name="KSO_WM_DIAGRAM_VIRTUALLY_FRAME" val="{&quot;height&quot;:158.4,&quot;left&quot;:331.2,&quot;top&quot;:115.2,&quot;width&quot;:619.2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7459</Words>
  <Application>WPS 演示</Application>
  <PresentationFormat>On-screen Show (4:3)</PresentationFormat>
  <Paragraphs>542</Paragraphs>
  <Slides>25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25</vt:i4>
      </vt:variant>
    </vt:vector>
  </HeadingPairs>
  <TitlesOfParts>
    <vt:vector size="35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-apple-system</vt:lpstr>
      <vt:lpstr>Segoe Print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黄金航0519</cp:lastModifiedBy>
  <cp:revision>8</cp:revision>
  <dcterms:created xsi:type="dcterms:W3CDTF">2013-01-27T09:14:00Z</dcterms:created>
  <dcterms:modified xsi:type="dcterms:W3CDTF">2026-09-11T02:25:38Z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AE7419E3110C4A4DADFAD06233609995_12</vt:lpwstr>
  </property>
  <property fmtid="{D5CDD505-2E9C-101B-9397-08002B2CF9AE}" pid="3" name="KSOProductBuildVer">
    <vt:lpwstr>2052-12.1.0.28488</vt:lpwstr>
  </property>
</Properties>
</file>