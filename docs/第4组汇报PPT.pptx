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Linux 桌面 Agentic OS 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8B5CF6"/>
                </a:solidFill>
                <a:latin typeface="Microsoft YaHei"/>
              </a:defRPr>
            </a:pPr>
            <a:r>
              <a:t>第 4 组 · 工具注册 + OS Skills（工具服务层）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BC5D5"/>
                </a:solidFill>
                <a:latin typeface="Microsoft YaHei"/>
              </a:defRPr>
            </a:pPr>
            <a:r>
              <a:t>ToolRegistry + SkillLibrary ｜ 59 工具 + 26 技能 + 512 测试全绿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9AA6B5"/>
                </a:solidFill>
                <a:latin typeface="Microsoft YaHei"/>
              </a:defRPr>
            </a:pPr>
            <a:r>
              <a:t>操作系统设计 · 汇报演示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AA6B5"/>
                </a:solidFill>
                <a:latin typeface="Microsoft YaHei"/>
              </a:defRPr>
            </a:pPr>
            <a:r>
              <a:t>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344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0992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099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UFO² 架构与第 4 组定位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8541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调研：MCP 协议与竞品对标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6090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系统架构与接口契约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363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模块设计：ToolRegistry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118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模块设计：SkillLibrary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8736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873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安全、审计与 RAG 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6285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6285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Mock 与跨组联调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38344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383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单元测试与质量保障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13832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1383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端到端演示：整理下载目录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9893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989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以微软 UFO² 为蓝本，在 Linux 桌面构建自然语言交互的 Agentic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▍背景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操作系统课程实践：理解虚拟化、并发、持久性三大原理，并在智能体系统中落地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▍目标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支持自然语言指令 → 意图理解 → 安全检查 → 任务规划 → 执行 → 工具调用 → 审计 的完整闭环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▍5 组分工</a:t>
            </a:r>
            <a:r>
              <a:rPr sz="1800">
                <a:solidFill>
                  <a:srgbClr val="1E293B"/>
                </a:solidFill>
                <a:latin typeface="Microsoft YaHei"/>
              </a:rPr>
              <a:t>  AI Shell/HostAgent(1) → 规划/控件检测(2) → AppAgent/Automator(3) → 工具/OS Skills(4) → 协调/安全/RAG(5)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▍第 4 组职责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把文件系统/系统管理能力封装为统一可调用、可统计、可签名的工具与技能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▍OS 原理关联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持久性：文件系统操作；虚拟化：资源抽象；并发：多线程安全调用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UFO² 架构与第 4 组定位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第 4 组对应 UFO² 的 Tools 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决策层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HostAgent / TaskPlanner / AppAgent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★ 工具层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ToolRegistry + SkillLibrary（第 4 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103327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能力层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290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文件系统 / 进程 / 网络 / 应用 / 剪贴板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5A6474"/>
                </a:solidFill>
                <a:latin typeface="Microsoft YaHei"/>
              </a:defRPr>
            </a:pPr>
            <a:r>
              <a:t>工具层是「决策」与「能力」之间的适配面：把 OS 原始能力封装成智能体可理解、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5A6474"/>
                </a:solidFill>
                <a:latin typeface="Microsoft YaHei"/>
              </a:defRPr>
            </a:pPr>
            <a:r>
              <a:t>可验证、可安全调用的函数签名 —— 如同系统调用把硬件能力暴露为受控 API。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调研：MCP 协议与竞品对标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第 4 组接口设计的参考蓝本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▍MCP 协议</a:t>
            </a:r>
            <a:r>
              <a:rPr sz="1800">
                <a:solidFill>
                  <a:srgbClr val="1E293B"/>
                </a:solidFill>
                <a:latin typeface="Microsoft YaHei"/>
              </a:rPr>
              <a:t>  Server 声明工具(name/description/inputSchema) → 客户端发现 → 结构化调用 → 结果回传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▍Schema 驱动</a:t>
            </a:r>
            <a:r>
              <a:rPr sz="1800">
                <a:solidFill>
                  <a:srgbClr val="1E293B"/>
                </a:solidFill>
                <a:latin typeface="Microsoft YaHei"/>
              </a:rPr>
              <a:t>  工具参数自动从函数签名+docstring 生成 JSON Schema，避免与代码漂移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▍结果归一</a:t>
            </a:r>
            <a:r>
              <a:rPr sz="1800">
                <a:solidFill>
                  <a:srgbClr val="1E293B"/>
                </a:solidFill>
                <a:latin typeface="Microsoft YaHei"/>
              </a:rPr>
              <a:t>  统一 {success, result, error}，等价 MCP CallToolResult，上层无感知差异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▍竞品对标</a:t>
            </a:r>
            <a:r>
              <a:rPr sz="1800">
                <a:solidFill>
                  <a:srgbClr val="1E293B"/>
                </a:solidFill>
                <a:latin typeface="Microsoft YaHei"/>
              </a:rPr>
              <a:t>  UFO：API 优先于坐标点击；ANOLISA：工具统一注册与系统级抽象；Open Interpreter：不可控的教训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▍OS 关联</a:t>
            </a:r>
            <a:r>
              <a:rPr sz="1800">
                <a:solidFill>
                  <a:srgbClr val="1E293B"/>
                </a:solidFill>
                <a:latin typeface="Microsoft YaHei"/>
              </a:rPr>
              <a:t>  系统调用暴露硬件能力；工具层暴露 OS 能力 —— 同构思想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系统架构与接口契约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tool_result_json 贯穿 5 组数据流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第1组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Shell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HostAgent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2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463040"/>
            <a:ext cx="201168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00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第2组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规划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控件检测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7452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463040"/>
            <a:ext cx="201168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600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第3组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011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AppAgent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Automator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87452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463040"/>
            <a:ext cx="2011680" cy="1188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600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第4组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11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ToolRegistry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SkillLibrary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7452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1463040"/>
            <a:ext cx="201168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600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第5组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11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协调/安全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8960"/>
            <a:ext cx="1106424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83280"/>
            <a:ext cx="5394960" cy="2651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73152" cy="2651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930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输出接口 tool_result_json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{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  "success": true,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  "result": "...",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  "error": "..."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工程扩展：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  tool / elapsed_ms / 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（供审计与 RAG）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83280"/>
            <a:ext cx="5394960" cy="2651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383280"/>
            <a:ext cx="73152" cy="2651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930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输入接口（上层→第4组）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list_available_tools()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list_skills()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call(name, params)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call_skill(name, params)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get_stats()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get_tool_signature(name)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register(name, func)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模块设计：ToolRegistry（59 个系统工具）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统一注册 · 统一调用 · Schema 生成 · 调用统计 · 工具签名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▍统一注册</a:t>
            </a:r>
            <a:r>
              <a:rPr sz="1800">
                <a:solidFill>
                  <a:srgbClr val="1E293B"/>
                </a:solidFill>
                <a:latin typeface="Microsoft YaHei"/>
              </a:rPr>
              <a:t>  register(name, func) 注册工具与别名（move_file≡move_path），注册时自动生成 SHA256 签名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▍统一调用</a:t>
            </a:r>
            <a:r>
              <a:rPr sz="1800">
                <a:solidFill>
                  <a:srgbClr val="1E293B"/>
                </a:solidFill>
                <a:latin typeface="Microsoft YaHei"/>
              </a:rPr>
              <a:t>  call(name, params) 单一入口，try/except 归一为 {success:false,error}，异常不逃逸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▍Schema 自动生成</a:t>
            </a:r>
            <a:r>
              <a:rPr sz="1800">
                <a:solidFill>
                  <a:srgbClr val="1E293B"/>
                </a:solidFill>
                <a:latin typeface="Microsoft YaHei"/>
              </a:rPr>
              <a:t>  由函数签名+typing+docstring 推断描述与参数（对齐 MCP inputSchema）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▍功能域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文件/文件夹/文本/批量/磁盘/搜索/图片/系统/浏览器/邮件/屏幕/网络 12 大类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▍代表性工具</a:t>
            </a:r>
            <a:r>
              <a:rPr sz="1800">
                <a:solidFill>
                  <a:srgbClr val="1E293B"/>
                </a:solidFill>
                <a:latin typeface="Microsoft YaHei"/>
              </a:rPr>
              <a:t>  copy_file、organize_downloads(技能)、edit_file、search_in_files、run_command、send_email、screen_inspect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模块设计：SkillLibrary（26 个 OS 技能）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原子工具编排成一步到位的组合技能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60604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文件整理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331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organize_downloads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smart_organize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cleanup_temp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deduplicate_files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0604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813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查找索引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331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search_file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find_large_files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rebuild_index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query_index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0604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813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回收备份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331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trash_file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restore_file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backup_file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restore_backup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71600"/>
            <a:ext cx="260604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37160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813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通信联网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920240"/>
            <a:ext cx="2331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app_send_message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read_qq_chat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send_email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browser_search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5A6474"/>
                </a:solidFill>
                <a:latin typeface="Microsoft YaHei"/>
              </a:defRPr>
            </a:pPr>
            <a:r>
              <a:t>核心演示：organize_downloads —— 扫描 → 按扩展名分类(文档/图片/视频/音频/压缩包) → 建子目录 → 移动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A6474"/>
                </a:solidFill>
                <a:latin typeface="Microsoft YaHei"/>
              </a:defRPr>
            </a:pPr>
            <a:r>
              <a:t>→ 返回「整理完成: 共 N 个文件，分类 M 类」。演示场景 6「整理下载目录」由本技能直接支撑。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安全、审计与 RAG 协同（第 5 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四层安全架构 + 审计日志 + 执行轨迹检索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▍四层安全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权限检查(危险指令/受保护路径) → 沙箱执行(确认门) → 签名验证(SHA256) → 隐私保护(脱敏)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▍审计日志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每次用户输入/工具调用/确认事件追加记录（JSON Lines，可落盘、线程安全）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▍RAG 知识库</a:t>
            </a:r>
            <a:r>
              <a:rPr sz="1800">
                <a:solidFill>
                  <a:srgbClr val="1E293B"/>
                </a:solidFill>
                <a:latin typeface="Microsoft YaHei"/>
              </a:rPr>
              <a:t>  存储「用户输入→动作→结果」三元组，轻量词频向量+余弦相似度检索，零外部依赖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▍数据源闭环</a:t>
            </a:r>
            <a:r>
              <a:rPr sz="1800">
                <a:solidFill>
                  <a:srgbClr val="1E293B"/>
                </a:solidFill>
                <a:latin typeface="Microsoft YaHei"/>
              </a:rPr>
              <a:t>  第 4 组 call() 的 elapsed_ms/ts 字段、get_stats()、get_tool_signature 供第 5 组消费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▍降级 Mock</a:t>
            </a:r>
            <a:r>
              <a:rPr sz="1800">
                <a:solidFill>
                  <a:srgbClr val="1E293B"/>
                </a:solidFill>
                <a:latin typeface="Microsoft YaHei"/>
              </a:rPr>
              <a:t>  MockCoordinator 基于 57 个同构工具 Mock 跑端到端编排，5 组联调互不阻塞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Mock 与跨组联调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同构 Mock 让其它组无真实系统也能开发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▍MockToolRegistry</a:t>
            </a:r>
            <a:r>
              <a:rPr sz="1800">
                <a:solidFill>
                  <a:srgbClr val="1E293B"/>
                </a:solidFill>
                <a:latin typeface="Microsoft YaHei"/>
              </a:rPr>
              <a:t>  57 个工具与正式版同名/同参/同返回，内存实现不改磁盘，安全可复现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▍MockSkillLibrary / MockOSServiceAPI</a:t>
            </a:r>
            <a:r>
              <a:rPr sz="1800">
                <a:solidFill>
                  <a:srgbClr val="1E293B"/>
                </a:solidFill>
                <a:latin typeface="Microsoft YaHei"/>
              </a:rPr>
              <a:t>  26 技能与统一 API 入口的 Mock，三件套全覆盖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▍联调价值</a:t>
            </a:r>
            <a:r>
              <a:rPr sz="1800">
                <a:solidFill>
                  <a:srgbClr val="1E293B"/>
                </a:solidFill>
                <a:latin typeface="Microsoft YaHei"/>
              </a:rPr>
              <a:t>  第 1/2/3 组可离线开发与联调，不被第 4 组真实实现阻塞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▍真实 LLM 联调</a:t>
            </a:r>
            <a:r>
              <a:rPr sz="1800">
                <a:solidFill>
                  <a:srgbClr val="1E293B"/>
                </a:solidFill>
                <a:latin typeface="Microsoft YaHei"/>
              </a:rPr>
              <a:t>  阿里云百炼 qwen3.5-plus function-calling 真机驱动多步工具调用（证据 docs/evidence/agent_qwen_live.md）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▍邮件/QQ 真机</a:t>
            </a:r>
            <a:r>
              <a:rPr sz="1800">
                <a:solidFill>
                  <a:srgbClr val="1E293B"/>
                </a:solidFill>
                <a:latin typeface="Microsoft YaHei"/>
              </a:rPr>
              <a:t>  send_email SMTP+IMAP 闭环到达核验；QQ 会话经屏幕 OCR 核对标题后读写（证据见 evidence/）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单元测试与质量保障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512 项测试全绿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10896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63040"/>
            <a:ext cx="1828800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测试文件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828800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系统工具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1828800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OS 技能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463040"/>
            <a:ext cx="1828800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8288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Mock 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B5CF6"/>
                </a:solidFill>
                <a:latin typeface="Microsoft YaHei"/>
              </a:rPr>
              <a:t>▍覆盖映射</a:t>
            </a:r>
            <a:r>
              <a:rPr sz="1600">
                <a:solidFill>
                  <a:srgbClr val="1E293B"/>
                </a:solidFill>
                <a:latin typeface="Microsoft YaHei"/>
              </a:rPr>
              <a:t>  设计书功能要求→测试用例一一映射：接口/统计/签名/Mock/异常/恢复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B5CF6"/>
                </a:solidFill>
                <a:latin typeface="Microsoft YaHei"/>
              </a:rPr>
              <a:t>▍运行方式</a:t>
            </a:r>
            <a:r>
              <a:rPr sz="1600">
                <a:solidFill>
                  <a:srgbClr val="1E293B"/>
                </a:solidFill>
                <a:latin typeface="Microsoft YaHei"/>
              </a:rPr>
              <a:t>  python -m pytest -q（全量），或定向 pytest tests/test_tool_registry.py 等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B5CF6"/>
                </a:solidFill>
                <a:latin typeface="Microsoft YaHei"/>
              </a:rPr>
              <a:t>▍跨平台</a:t>
            </a:r>
            <a:r>
              <a:rPr sz="1600">
                <a:solidFill>
                  <a:srgbClr val="1E293B"/>
                </a:solidFill>
                <a:latin typeface="Microsoft YaHei"/>
              </a:rPr>
              <a:t>  Windows 实测通过；Ubuntu 20.04 兼容验证；代码路径全 pathlib + UTF-8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端到端演示：整理下载目录（场景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复杂任务 · 5 组协作 · 完整数据流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① 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整理下载目录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② 第1组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意图理解 → organize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③ 第5组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安全检查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④ 第2组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规划 → 路由到工具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⑤ 第4组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organize_downloads 技能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1463040"/>
            <a:ext cx="173736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15544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⑥ 第5组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196596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审计 + RAG 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15800" y="1920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52044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SkillLibrary 执行：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  1. 扫描 ~/Downloads 全部文件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  2. 按扩展名映射类别（文档/图片/视频/音频/压缩包/代码/其他）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  3. 逐类创建子目录 → 移动文件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  4. 返回 {success:true, result:"整理完成: 共 N 个文件，分类 M 类"}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界面统计更新(get_stats) + 审计(第5组) + 中文总结(第1组)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设计书演示场景全覆盖核对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6 个演示场景全部可支撑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1｜打开文件管理器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app_open 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2｜导航到目录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list_directory + 路径能力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3｜创建 project 文件夹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create_directory 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4｜编辑 test.txt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edit_file / write_text_file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611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5｜切换窗口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activate_window / switch_app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474720"/>
            <a:ext cx="338328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611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场景 6｜整理下载目录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148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organize_downloads 技能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5A6474"/>
                </a:solidFill>
                <a:latin typeface="Microsoft YaHei"/>
              </a:defRPr>
            </a:pPr>
            <a:r>
              <a:t>核心场景 6「整理下载目录」已在真机完整跑通（见前一页）。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性能优化与跨平台可移植性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运行更快 · 省 token · 双平台可用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▍token 优化</a:t>
            </a:r>
            <a:r>
              <a:rPr sz="1700">
                <a:solidFill>
                  <a:srgbClr val="1E293B"/>
                </a:solidFill>
                <a:latin typeface="Microsoft YaHei"/>
              </a:rPr>
              <a:t>  工具结果超长自动截断(默认 4000 字符) + 循环上限(15 步) + max_tokens，对齐 LangGraph 社区实践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▍连接复用</a:t>
            </a:r>
            <a:r>
              <a:rPr sz="1700">
                <a:solidFill>
                  <a:srgbClr val="1E293B"/>
                </a:solidFill>
                <a:latin typeface="Microsoft YaHei"/>
              </a:rPr>
              <a:t>  requests.Session 线程本地复用 TCP/TLS 连接，避免反复握手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▍联网双模式</a:t>
            </a:r>
            <a:r>
              <a:rPr sz="1700">
                <a:solidFill>
                  <a:srgbClr val="1E293B"/>
                </a:solidFill>
                <a:latin typeface="Microsoft YaHei"/>
              </a:rPr>
              <a:t>  百炼服务端搜索(enable_search) / 本地搜索工具，总开关统一管理，隐藏低质量本地搜索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▍代码解释器</a:t>
            </a:r>
            <a:r>
              <a:rPr sz="1700">
                <a:solidFill>
                  <a:srgbClr val="1E293B"/>
                </a:solidFill>
                <a:latin typeface="Microsoft YaHei"/>
              </a:rPr>
              <a:t>  纯计算回合自动启用百炼服务端 Python 沙箱（123²¹ 精确算出），模型不支持自动探测停用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▍跨平台</a:t>
            </a:r>
            <a:r>
              <a:rPr sz="1700">
                <a:solidFill>
                  <a:srgbClr val="1E293B"/>
                </a:solidFill>
                <a:latin typeface="Microsoft YaHei"/>
              </a:rPr>
              <a:t>  Windows/Linux 双实现层（Win32 ctypes / xdotool+wmctrl），CDP 跨平台，全 pathlib + UTF-8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▍他人部署</a:t>
            </a:r>
            <a:r>
              <a:rPr sz="1700">
                <a:solidFill>
                  <a:srgbClr val="1E293B"/>
                </a:solidFill>
                <a:latin typeface="Microsoft YaHei"/>
              </a:rPr>
              <a:t>  空 key 模板 config.yaml.example + setup_linux.sh 一键配置，个人 key 不入库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成果与亮点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第 4 组交付概览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系统工具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A6474"/>
                </a:solidFill>
                <a:latin typeface="Microsoft YaHei"/>
              </a:defRPr>
            </a:pPr>
            <a:r>
              <a:t>12 大功能域统一注册调用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56032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OS 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A6474"/>
                </a:solidFill>
                <a:latin typeface="Microsoft YaHei"/>
              </a:defRPr>
            </a:pPr>
            <a:r>
              <a:t>组合操作一步到位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56032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t>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测试全绿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A6474"/>
                </a:solidFill>
                <a:latin typeface="Microsoft YaHei"/>
              </a:defRPr>
            </a:pPr>
            <a:r>
              <a:t>功能-测试全覆盖映射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56032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6002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组联调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834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A6474"/>
                </a:solidFill>
                <a:latin typeface="Microsoft YaHei"/>
              </a:defRPr>
            </a:pPr>
            <a:r>
              <a:t>Mock 同构 + 真机 LLM 打通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▍架构价值</a:t>
            </a:r>
            <a:r>
              <a:rPr sz="1700">
                <a:solidFill>
                  <a:srgbClr val="1E293B"/>
                </a:solidFill>
                <a:latin typeface="Microsoft YaHei"/>
              </a:rPr>
              <a:t>  工具层成为「决策」与「能力」的适配面，为 5 组数据流提供统一契约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▍工程规范</a:t>
            </a:r>
            <a:r>
              <a:rPr sz="1700">
                <a:solidFill>
                  <a:srgbClr val="1E293B"/>
                </a:solidFill>
                <a:latin typeface="Microsoft YaHei"/>
              </a:rPr>
              <a:t>  11 条 ADR 决策记录 + 全注释 + 512 测试，代码质量可追溯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Microsoft YaHei"/>
              </a:rPr>
              <a:t>▍演示能力</a:t>
            </a:r>
            <a:r>
              <a:rPr sz="1700">
                <a:solidFill>
                  <a:srgbClr val="1E293B"/>
                </a:solidFill>
                <a:latin typeface="Microsoft YaHei"/>
              </a:rPr>
              <a:t>  6 个设计书演示场景全覆盖，核心场景 6 真机跑通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关键问题与解决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踩坑记录 → 工程经验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工具输出超长拖慢请求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截断 + 可针对性再读，省 token 且不丢关键信息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路径命名不统一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move_file≡move_path 别名统一（ADR-0007）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百炼代码解释器参数格式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5468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Chat Completions 顶层参数 + 仅流式 + 不混本地工具，实测 qwen3.7-flash 精确算 123²¹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7764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搜索工具冲突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02336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服务端搜索开启时隐藏本地搜索，避免模型选到低质量实现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个人 key 泄漏风险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9204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config.yaml 敏感字段 git 忽略，分发空模板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15000"/>
            <a:ext cx="301752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跨平台差异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760720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xdotool 需 Xorg 会话，脚本自动检测 Wayland 并提示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第 4 组分工与贡献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A6474"/>
                </a:solidFill>
                <a:latin typeface="Microsoft YaHei"/>
              </a:defRPr>
            </a:pPr>
            <a:r>
              <a:t>（待组员确认后补充姓名）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▍组员 1</a:t>
            </a:r>
            <a:r>
              <a:rPr sz="1800">
                <a:solidFill>
                  <a:srgbClr val="1E293B"/>
                </a:solidFill>
                <a:latin typeface="Microsoft YaHei"/>
              </a:rPr>
              <a:t>  ToolRegistry 核心实现、调用统计、工具签名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▍组员 2</a:t>
            </a:r>
            <a:r>
              <a:rPr sz="1800">
                <a:solidFill>
                  <a:srgbClr val="1E293B"/>
                </a:solidFill>
                <a:latin typeface="Microsoft YaHei"/>
              </a:rPr>
              <a:t>  SkillLibrary 技能编排、文件整理/回收站/备份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▍组员 3</a:t>
            </a:r>
            <a:r>
              <a:rPr sz="1800">
                <a:solidFill>
                  <a:srgbClr val="1E293B"/>
                </a:solidFill>
                <a:latin typeface="Microsoft YaHei"/>
              </a:rPr>
              <a:t>  Mock 三件套、跨组联调、接口文档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▍组员 4</a:t>
            </a:r>
            <a:r>
              <a:rPr sz="1800">
                <a:solidFill>
                  <a:srgbClr val="1E293B"/>
                </a:solidFill>
                <a:latin typeface="Microsoft YaHei"/>
              </a:rPr>
              <a:t>  调研报告、设计文档、单元测试、汇报 PPT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▍组内协作</a:t>
            </a:r>
            <a:r>
              <a:rPr sz="1800">
                <a:solidFill>
                  <a:srgbClr val="1E293B"/>
                </a:solidFill>
                <a:latin typeface="Microsoft YaHei"/>
              </a:rPr>
              <a:t>  代码评审、ADR 决策记录、真机联调（LLM/邮件/QQ）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▍已达成</a:t>
            </a:r>
            <a:r>
              <a:rPr sz="1800">
                <a:solidFill>
                  <a:srgbClr val="1E293B"/>
                </a:solidFill>
                <a:latin typeface="Microsoft YaHei"/>
              </a:rPr>
              <a:t>  59 工具 + 26 技能 + 512 测试全绿 + 6 演示场景全覆盖 + 真机 LLM 联调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▍架构沉淀</a:t>
            </a:r>
            <a:r>
              <a:rPr sz="1800">
                <a:solidFill>
                  <a:srgbClr val="1E293B"/>
                </a:solidFill>
                <a:latin typeface="Microsoft YaHei"/>
              </a:rPr>
              <a:t>  工具层作为「决策-能力」适配面，统一契约 tool_result_json 贯穿 5 组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▍展望 1</a:t>
            </a:r>
            <a:r>
              <a:rPr sz="1800">
                <a:solidFill>
                  <a:srgbClr val="1E293B"/>
                </a:solidFill>
                <a:latin typeface="Microsoft YaHei"/>
              </a:rPr>
              <a:t>  接入 MCP 服务端，让工具层可被任意 MCP 客户端复用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▍展望 2</a:t>
            </a:r>
            <a:r>
              <a:rPr sz="1800">
                <a:solidFill>
                  <a:srgbClr val="1E293B"/>
                </a:solidFill>
                <a:latin typeface="Microsoft YaHei"/>
              </a:rPr>
              <a:t>  RAG 向量检索升级为 embedding 方案，提升轨迹召回精度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Microsoft YaHei"/>
              </a:rPr>
              <a:t>▍展望 3</a:t>
            </a:r>
            <a:r>
              <a:rPr sz="1800">
                <a:solidFill>
                  <a:srgbClr val="1E293B"/>
                </a:solidFill>
                <a:latin typeface="Microsoft YaHei"/>
              </a:rPr>
              <a:t>  Linux 桌面自动化深度适配（AT-SPI 控件检测 + 工具层协同）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8B5CF6"/>
                </a:solidFill>
                <a:latin typeface="Microsoft YaHei"/>
              </a:defRPr>
            </a:pPr>
            <a:r>
              <a:t>谢谢观看 · 请各位老师同学指正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5A6474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